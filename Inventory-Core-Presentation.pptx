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Received (supply)</c:v>
                </c:pt>
              </c:strCache>
            </c:strRef>
          </c:tx>
          <c:spPr>
            <a:solidFill>
              <a:srgbClr val="AFD6C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820</c:v>
                </c:pt>
                <c:pt idx="1">
                  <c:v>760</c:v>
                </c:pt>
                <c:pt idx="2">
                  <c:v>910</c:v>
                </c:pt>
                <c:pt idx="3">
                  <c:v>880</c:v>
                </c:pt>
                <c:pt idx="4">
                  <c:v>1020</c:v>
                </c:pt>
                <c:pt idx="5">
                  <c:v>940</c:v>
                </c:pt>
                <c:pt idx="6">
                  <c:v>1180</c:v>
                </c:pt>
                <c:pt idx="7">
                  <c:v>1010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Sold (demand)</c:v>
                </c:pt>
              </c:strCache>
            </c:strRef>
          </c:tx>
          <c:spPr>
            <a:solidFill>
              <a:srgbClr val="E887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740</c:v>
                </c:pt>
                <c:pt idx="1">
                  <c:v>790</c:v>
                </c:pt>
                <c:pt idx="2">
                  <c:v>850</c:v>
                </c:pt>
                <c:pt idx="3">
                  <c:v>920</c:v>
                </c:pt>
                <c:pt idx="4">
                  <c:v>960</c:v>
                </c:pt>
                <c:pt idx="5">
                  <c:v>1010</c:v>
                </c:pt>
                <c:pt idx="6">
                  <c:v>1090</c:v>
                </c:pt>
                <c:pt idx="7">
                  <c:v>1140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827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A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827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3E4F4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Inventory Core is a standalone system of record for stock. It is not a feature inside one app — it is the service that owns the stock numbers and shares them with every app that needs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are the symptoms. The single underlying cause is that no system owns the stock number — so several systems each own a version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left column is not a straw man — it is how most multi-location retail runs. The right column is what a system of record buys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one slide that explains why the system is trustworthy. Nobody types a stock number in. Numbers are always the sum of recorded events.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parts. The first three are the foundation; the last three are what people use day to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Auto-generated IDs, issued at creation. Gapless numbering matters for audit — a missing number is a question you have to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traceability story. It is the direct answer to 'all product tracking'.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 and export cross the boundary of the business. A transfer stays inside it. That difference decides whether a bill is raised.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frequent and expensive mistake in home-grown systems: booking internal transfers as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Double-counting in-transit stock is the most common cause of duplicate ordering in multi-location retail.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direct answer to requirement six: the ticket closes when the product reaches its destination AND the data matches.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four are calculated per shop, per product. A product can be a fast mover in one location and dead stock in another.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careful with these numbers in the room. They are benchmarks for this class of system, not guarantees. The important commitment is to measure the baseline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four decisions. The first one is the most consequential — it defines the boundary between the two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69480" y="1325880"/>
            <a:ext cx="493776" cy="493776"/>
          </a:xfrm>
          <a:prstGeom prst="roundRect">
            <a:avLst>
              <a:gd name="adj" fmla="val 7407"/>
            </a:avLst>
          </a:prstGeom>
          <a:solidFill>
            <a:srgbClr val="0E7C6B"/>
          </a:solidFill>
          <a:ln w="9525">
            <a:solidFill>
              <a:srgbClr val="1749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27848" y="1325880"/>
            <a:ext cx="493776" cy="493776"/>
          </a:xfrm>
          <a:prstGeom prst="roundRect">
            <a:avLst>
              <a:gd name="adj" fmla="val 7407"/>
            </a:avLst>
          </a:prstGeom>
          <a:solidFill>
            <a:srgbClr val="0E3536"/>
          </a:solidFill>
          <a:ln w="9525">
            <a:solidFill>
              <a:srgbClr val="1749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86216" y="1325880"/>
            <a:ext cx="493776" cy="493776"/>
          </a:xfrm>
          <a:prstGeom prst="roundRect">
            <a:avLst>
              <a:gd name="adj" fmla="val 7407"/>
            </a:avLst>
          </a:prstGeom>
          <a:solidFill>
            <a:srgbClr val="0E3536"/>
          </a:solidFill>
          <a:ln w="9525">
            <a:solidFill>
              <a:srgbClr val="1749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44584" y="1325880"/>
            <a:ext cx="493776" cy="493776"/>
          </a:xfrm>
          <a:prstGeom prst="roundRect">
            <a:avLst>
              <a:gd name="adj" fmla="val 7407"/>
            </a:avLst>
          </a:prstGeom>
          <a:solidFill>
            <a:srgbClr val="0E7C6B"/>
          </a:solidFill>
          <a:ln w="9525">
            <a:solidFill>
              <a:srgbClr val="1749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02952" y="1325880"/>
            <a:ext cx="493776" cy="493776"/>
          </a:xfrm>
          <a:prstGeom prst="roundRect">
            <a:avLst>
              <a:gd name="adj" fmla="val 7407"/>
            </a:avLst>
          </a:prstGeom>
          <a:solidFill>
            <a:srgbClr val="0E3536"/>
          </a:solidFill>
          <a:ln w="9525">
            <a:solidFill>
              <a:srgbClr val="1749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61320" y="1325880"/>
            <a:ext cx="493776" cy="493776"/>
          </a:xfrm>
          <a:prstGeom prst="roundRect">
            <a:avLst>
              <a:gd name="adj" fmla="val 7407"/>
            </a:avLst>
          </a:prstGeom>
          <a:solidFill>
            <a:srgbClr val="0E3536"/>
          </a:solidFill>
          <a:ln w="9525">
            <a:solidFill>
              <a:srgbClr val="1749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9688" y="1325880"/>
            <a:ext cx="493776" cy="493776"/>
          </a:xfrm>
          <a:prstGeom prst="roundRect">
            <a:avLst>
              <a:gd name="adj" fmla="val 7407"/>
            </a:avLst>
          </a:prstGeom>
          <a:solidFill>
            <a:srgbClr val="0E7C6B"/>
          </a:solidFill>
          <a:ln w="9525">
            <a:solidFill>
              <a:srgbClr val="1749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69480" y="1984248"/>
            <a:ext cx="493776" cy="493776"/>
          </a:xfrm>
          <a:prstGeom prst="roundRect">
            <a:avLst>
              <a:gd name="adj" fmla="val 7407"/>
            </a:avLst>
          </a:prstGeom>
          <a:solidFill>
            <a:srgbClr val="0E3536"/>
          </a:solidFill>
          <a:ln w="9525">
            <a:solidFill>
              <a:srgbClr val="1749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27848" y="1984248"/>
            <a:ext cx="493776" cy="493776"/>
          </a:xfrm>
          <a:prstGeom prst="roundRect">
            <a:avLst>
              <a:gd name="adj" fmla="val 7407"/>
            </a:avLst>
          </a:prstGeom>
          <a:solidFill>
            <a:srgbClr val="0E3536"/>
          </a:solidFill>
          <a:ln w="9525">
            <a:solidFill>
              <a:srgbClr val="1749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86216" y="1984248"/>
            <a:ext cx="493776" cy="493776"/>
          </a:xfrm>
          <a:prstGeom prst="roundRect">
            <a:avLst>
              <a:gd name="adj" fmla="val 7407"/>
            </a:avLst>
          </a:prstGeom>
          <a:solidFill>
            <a:srgbClr val="0E7C6B"/>
          </a:solidFill>
          <a:ln w="9525">
            <a:solidFill>
              <a:srgbClr val="1749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44584" y="1984248"/>
            <a:ext cx="493776" cy="493776"/>
          </a:xfrm>
          <a:prstGeom prst="roundRect">
            <a:avLst>
              <a:gd name="adj" fmla="val 7407"/>
            </a:avLst>
          </a:prstGeom>
          <a:solidFill>
            <a:srgbClr val="0E3536"/>
          </a:solidFill>
          <a:ln w="9525">
            <a:solidFill>
              <a:srgbClr val="1749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02952" y="1984248"/>
            <a:ext cx="493776" cy="493776"/>
          </a:xfrm>
          <a:prstGeom prst="roundRect">
            <a:avLst>
              <a:gd name="adj" fmla="val 7407"/>
            </a:avLst>
          </a:prstGeom>
          <a:solidFill>
            <a:srgbClr val="0E3536"/>
          </a:solidFill>
          <a:ln w="9525">
            <a:solidFill>
              <a:srgbClr val="1749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61320" y="1984248"/>
            <a:ext cx="493776" cy="493776"/>
          </a:xfrm>
          <a:prstGeom prst="roundRect">
            <a:avLst>
              <a:gd name="adj" fmla="val 7407"/>
            </a:avLst>
          </a:prstGeom>
          <a:solidFill>
            <a:srgbClr val="0E7C6B"/>
          </a:solidFill>
          <a:ln w="9525">
            <a:solidFill>
              <a:srgbClr val="1749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19688" y="1984248"/>
            <a:ext cx="493776" cy="493776"/>
          </a:xfrm>
          <a:prstGeom prst="roundRect">
            <a:avLst>
              <a:gd name="adj" fmla="val 7407"/>
            </a:avLst>
          </a:prstGeom>
          <a:solidFill>
            <a:srgbClr val="0E3536"/>
          </a:solidFill>
          <a:ln w="9525">
            <a:solidFill>
              <a:srgbClr val="1749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69480" y="2642616"/>
            <a:ext cx="493776" cy="493776"/>
          </a:xfrm>
          <a:prstGeom prst="roundRect">
            <a:avLst>
              <a:gd name="adj" fmla="val 7407"/>
            </a:avLst>
          </a:prstGeom>
          <a:solidFill>
            <a:srgbClr val="0E3536"/>
          </a:solidFill>
          <a:ln w="9525">
            <a:solidFill>
              <a:srgbClr val="1749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27848" y="2642616"/>
            <a:ext cx="493776" cy="493776"/>
          </a:xfrm>
          <a:prstGeom prst="roundRect">
            <a:avLst>
              <a:gd name="adj" fmla="val 7407"/>
            </a:avLst>
          </a:prstGeom>
          <a:solidFill>
            <a:srgbClr val="0E7C6B"/>
          </a:solidFill>
          <a:ln w="9525">
            <a:solidFill>
              <a:srgbClr val="1749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86216" y="2642616"/>
            <a:ext cx="493776" cy="493776"/>
          </a:xfrm>
          <a:prstGeom prst="roundRect">
            <a:avLst>
              <a:gd name="adj" fmla="val 7407"/>
            </a:avLst>
          </a:prstGeom>
          <a:solidFill>
            <a:srgbClr val="0E3536"/>
          </a:solidFill>
          <a:ln w="9525">
            <a:solidFill>
              <a:srgbClr val="1749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44584" y="2642616"/>
            <a:ext cx="493776" cy="493776"/>
          </a:xfrm>
          <a:prstGeom prst="roundRect">
            <a:avLst>
              <a:gd name="adj" fmla="val 7407"/>
            </a:avLst>
          </a:prstGeom>
          <a:solidFill>
            <a:srgbClr val="0E3536"/>
          </a:solidFill>
          <a:ln w="9525">
            <a:solidFill>
              <a:srgbClr val="1749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02952" y="2642616"/>
            <a:ext cx="493776" cy="493776"/>
          </a:xfrm>
          <a:prstGeom prst="roundRect">
            <a:avLst>
              <a:gd name="adj" fmla="val 7407"/>
            </a:avLst>
          </a:prstGeom>
          <a:solidFill>
            <a:srgbClr val="0E7C6B"/>
          </a:solidFill>
          <a:ln w="9525">
            <a:solidFill>
              <a:srgbClr val="1749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61320" y="2642616"/>
            <a:ext cx="493776" cy="493776"/>
          </a:xfrm>
          <a:prstGeom prst="roundRect">
            <a:avLst>
              <a:gd name="adj" fmla="val 7407"/>
            </a:avLst>
          </a:prstGeom>
          <a:solidFill>
            <a:srgbClr val="0E3536"/>
          </a:solidFill>
          <a:ln w="9525">
            <a:solidFill>
              <a:srgbClr val="1749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19688" y="2642616"/>
            <a:ext cx="493776" cy="493776"/>
          </a:xfrm>
          <a:prstGeom prst="roundRect">
            <a:avLst>
              <a:gd name="adj" fmla="val 7407"/>
            </a:avLst>
          </a:prstGeom>
          <a:solidFill>
            <a:srgbClr val="0E3536"/>
          </a:solidFill>
          <a:ln w="9525">
            <a:solidFill>
              <a:srgbClr val="1749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69480" y="3300984"/>
            <a:ext cx="493776" cy="493776"/>
          </a:xfrm>
          <a:prstGeom prst="roundRect">
            <a:avLst>
              <a:gd name="adj" fmla="val 7407"/>
            </a:avLst>
          </a:prstGeom>
          <a:solidFill>
            <a:srgbClr val="0E7C6B"/>
          </a:solidFill>
          <a:ln w="9525">
            <a:solidFill>
              <a:srgbClr val="1749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27848" y="3300984"/>
            <a:ext cx="493776" cy="493776"/>
          </a:xfrm>
          <a:prstGeom prst="roundRect">
            <a:avLst>
              <a:gd name="adj" fmla="val 7407"/>
            </a:avLst>
          </a:prstGeom>
          <a:solidFill>
            <a:srgbClr val="0E3536"/>
          </a:solidFill>
          <a:ln w="9525">
            <a:solidFill>
              <a:srgbClr val="1749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86216" y="3300984"/>
            <a:ext cx="493776" cy="493776"/>
          </a:xfrm>
          <a:prstGeom prst="roundRect">
            <a:avLst>
              <a:gd name="adj" fmla="val 7407"/>
            </a:avLst>
          </a:prstGeom>
          <a:solidFill>
            <a:srgbClr val="0E3536"/>
          </a:solidFill>
          <a:ln w="9525">
            <a:solidFill>
              <a:srgbClr val="1749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44584" y="3300984"/>
            <a:ext cx="493776" cy="493776"/>
          </a:xfrm>
          <a:prstGeom prst="roundRect">
            <a:avLst>
              <a:gd name="adj" fmla="val 7407"/>
            </a:avLst>
          </a:prstGeom>
          <a:solidFill>
            <a:srgbClr val="0E7C6B"/>
          </a:solidFill>
          <a:ln w="9525">
            <a:solidFill>
              <a:srgbClr val="1749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902952" y="3300984"/>
            <a:ext cx="493776" cy="493776"/>
          </a:xfrm>
          <a:prstGeom prst="roundRect">
            <a:avLst>
              <a:gd name="adj" fmla="val 7407"/>
            </a:avLst>
          </a:prstGeom>
          <a:solidFill>
            <a:srgbClr val="0E3536"/>
          </a:solidFill>
          <a:ln w="9525">
            <a:solidFill>
              <a:srgbClr val="1749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561320" y="3300984"/>
            <a:ext cx="493776" cy="493776"/>
          </a:xfrm>
          <a:prstGeom prst="roundRect">
            <a:avLst>
              <a:gd name="adj" fmla="val 7407"/>
            </a:avLst>
          </a:prstGeom>
          <a:solidFill>
            <a:srgbClr val="0E3536"/>
          </a:solidFill>
          <a:ln w="9525">
            <a:solidFill>
              <a:srgbClr val="1749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219688" y="3300984"/>
            <a:ext cx="493776" cy="493776"/>
          </a:xfrm>
          <a:prstGeom prst="roundRect">
            <a:avLst>
              <a:gd name="adj" fmla="val 7407"/>
            </a:avLst>
          </a:prstGeom>
          <a:solidFill>
            <a:srgbClr val="0E7C6B"/>
          </a:solidFill>
          <a:ln w="9525">
            <a:solidFill>
              <a:srgbClr val="1749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69480" y="3959352"/>
            <a:ext cx="493776" cy="493776"/>
          </a:xfrm>
          <a:prstGeom prst="roundRect">
            <a:avLst>
              <a:gd name="adj" fmla="val 7407"/>
            </a:avLst>
          </a:prstGeom>
          <a:solidFill>
            <a:srgbClr val="0E3536"/>
          </a:solidFill>
          <a:ln w="9525">
            <a:solidFill>
              <a:srgbClr val="1749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27848" y="3959352"/>
            <a:ext cx="493776" cy="493776"/>
          </a:xfrm>
          <a:prstGeom prst="roundRect">
            <a:avLst>
              <a:gd name="adj" fmla="val 7407"/>
            </a:avLst>
          </a:prstGeom>
          <a:solidFill>
            <a:srgbClr val="0E3536"/>
          </a:solidFill>
          <a:ln w="9525">
            <a:solidFill>
              <a:srgbClr val="1749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86216" y="3959352"/>
            <a:ext cx="493776" cy="493776"/>
          </a:xfrm>
          <a:prstGeom prst="roundRect">
            <a:avLst>
              <a:gd name="adj" fmla="val 7407"/>
            </a:avLst>
          </a:prstGeom>
          <a:solidFill>
            <a:srgbClr val="0E7C6B"/>
          </a:solidFill>
          <a:ln w="9525">
            <a:solidFill>
              <a:srgbClr val="1749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244584" y="3959352"/>
            <a:ext cx="493776" cy="493776"/>
          </a:xfrm>
          <a:prstGeom prst="roundRect">
            <a:avLst>
              <a:gd name="adj" fmla="val 7407"/>
            </a:avLst>
          </a:prstGeom>
          <a:solidFill>
            <a:srgbClr val="0E3536"/>
          </a:solidFill>
          <a:ln w="9525">
            <a:solidFill>
              <a:srgbClr val="1749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902952" y="3959352"/>
            <a:ext cx="493776" cy="493776"/>
          </a:xfrm>
          <a:prstGeom prst="roundRect">
            <a:avLst>
              <a:gd name="adj" fmla="val 7407"/>
            </a:avLst>
          </a:prstGeom>
          <a:solidFill>
            <a:srgbClr val="0E3536"/>
          </a:solidFill>
          <a:ln w="9525">
            <a:solidFill>
              <a:srgbClr val="1749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61320" y="3959352"/>
            <a:ext cx="493776" cy="493776"/>
          </a:xfrm>
          <a:prstGeom prst="roundRect">
            <a:avLst>
              <a:gd name="adj" fmla="val 7407"/>
            </a:avLst>
          </a:prstGeom>
          <a:solidFill>
            <a:srgbClr val="0E7C6B"/>
          </a:solidFill>
          <a:ln w="9525">
            <a:solidFill>
              <a:srgbClr val="1749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219688" y="3959352"/>
            <a:ext cx="493776" cy="493776"/>
          </a:xfrm>
          <a:prstGeom prst="roundRect">
            <a:avLst>
              <a:gd name="adj" fmla="val 7407"/>
            </a:avLst>
          </a:prstGeom>
          <a:solidFill>
            <a:srgbClr val="0E3536"/>
          </a:solidFill>
          <a:ln w="9525">
            <a:solidFill>
              <a:srgbClr val="1749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44584" y="2642616"/>
            <a:ext cx="493776" cy="493776"/>
          </a:xfrm>
          <a:prstGeom prst="roundRect">
            <a:avLst>
              <a:gd name="adj" fmla="val 7407"/>
            </a:avLst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66928" y="16002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A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 SYSTEM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66928" y="1993392"/>
            <a:ext cx="6309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</a:t>
            </a:r>
            <a:endParaRPr lang="en-US" sz="60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</a:t>
            </a:r>
            <a:endParaRPr lang="en-US" sz="6000" dirty="0"/>
          </a:p>
        </p:txBody>
      </p:sp>
      <p:sp>
        <p:nvSpPr>
          <p:cNvPr id="40" name="Text 38"/>
          <p:cNvSpPr txBox="1"/>
          <p:nvPr/>
        </p:nvSpPr>
        <p:spPr>
          <a:xfrm>
            <a:off x="566928" y="39776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B9D2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 for stock — how many, where, and worth what — that every one of your applications can share without ever disagreeing about the answer.</a:t>
            </a:r>
            <a:endParaRPr lang="en-US" sz="1550" dirty="0"/>
          </a:p>
        </p:txBody>
      </p:sp>
      <p:sp>
        <p:nvSpPr>
          <p:cNvPr id="41" name="Shape 39"/>
          <p:cNvSpPr/>
          <p:nvPr/>
        </p:nvSpPr>
        <p:spPr>
          <a:xfrm>
            <a:off x="566928" y="5230368"/>
            <a:ext cx="1901952" cy="402336"/>
          </a:xfrm>
          <a:prstGeom prst="roundRect">
            <a:avLst>
              <a:gd name="adj" fmla="val 50000"/>
            </a:avLst>
          </a:prstGeom>
          <a:solidFill>
            <a:srgbClr val="0E3536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66928" y="5230368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A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Multi-location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624328" y="5230368"/>
            <a:ext cx="1901952" cy="402336"/>
          </a:xfrm>
          <a:prstGeom prst="roundRect">
            <a:avLst>
              <a:gd name="adj" fmla="val 50000"/>
            </a:avLst>
          </a:prstGeom>
          <a:solidFill>
            <a:srgbClr val="0E3536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624328" y="5230368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A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traceability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681728" y="5230368"/>
            <a:ext cx="1901952" cy="402336"/>
          </a:xfrm>
          <a:prstGeom prst="roundRect">
            <a:avLst>
              <a:gd name="adj" fmla="val 50000"/>
            </a:avLst>
          </a:prstGeom>
          <a:solidFill>
            <a:srgbClr val="0E3536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681728" y="5230368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A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goes wrong in four predictable ways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609344"/>
            <a:ext cx="5336896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920240"/>
            <a:ext cx="457200" cy="457200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901952"/>
            <a:ext cx="411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 on screen is not the number on the shelf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505456"/>
            <a:ext cx="411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are updated by memory and by spreadsheet. Nobody knows which figure is right, so staff stop trusting the screen and count by hand — which is slow and also wrong.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87872" y="1609344"/>
            <a:ext cx="5336896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98768" y="1920240"/>
            <a:ext cx="457200" cy="457200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98768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202272" y="1901952"/>
            <a:ext cx="411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can say where a unit went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7202272" y="2505456"/>
            <a:ext cx="411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leave one shop and arrive at another with no record in between. When something disappears, there is no trail to follow and no one to ask.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822192"/>
            <a:ext cx="5336896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7824" y="4133088"/>
            <a:ext cx="457200" cy="457200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77824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4114800"/>
            <a:ext cx="411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app keeps its own copy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4718304"/>
            <a:ext cx="411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website, the billing book and the shop each hold a different stock figure. Reconciling them is manual, monthly, and already out of date when it finishes.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87872" y="3822192"/>
            <a:ext cx="5336896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98768" y="4133088"/>
            <a:ext cx="457200" cy="457200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98768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202272" y="4114800"/>
            <a:ext cx="411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Reordering runs on gut feel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7202272" y="4718304"/>
            <a:ext cx="411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movers run out while slow movers pile up. Cash sits in stock that will not sell, and sales are lost on stock that would have.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SOFTWARE SOLVES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several versions of the truth to exactly one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300320" cy="3639312"/>
          </a:xfrm>
          <a:prstGeom prst="roundRect">
            <a:avLst>
              <a:gd name="adj" fmla="val 1508"/>
            </a:avLst>
          </a:prstGeom>
          <a:solidFill>
            <a:srgbClr val="FFFFFF"/>
          </a:solidFill>
          <a:ln w="12700">
            <a:solidFill>
              <a:srgbClr val="AFD6CD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32688" y="1865376"/>
            <a:ext cx="456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BF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286000"/>
            <a:ext cx="45688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counted from memory or spreadsheets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shop keeps its own separate record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travel with no paperwork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 discovered weeks later, if at all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decided by whoever notices first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app needs its own integration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24448" y="1572768"/>
            <a:ext cx="5300320" cy="3639312"/>
          </a:xfrm>
          <a:prstGeom prst="roundRect">
            <a:avLst>
              <a:gd name="adj" fmla="val 1508"/>
            </a:avLst>
          </a:prstGeom>
          <a:solidFill>
            <a:srgbClr val="0C3B3C"/>
          </a:solidFill>
          <a:ln w="12700">
            <a:solidFill>
              <a:srgbClr val="0C3B3C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90208" y="1865376"/>
            <a:ext cx="456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2AA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INVENTORY CORE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690208" y="2286000"/>
            <a:ext cx="45688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CF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recorded as it happens, permanently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CF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record, viewable per shop or across all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CF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moves without a ticket and a document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CF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 surface the same day, with a named cause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CF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points calculated per shop, per product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CF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apps connect through one shared interface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applications, one stock truth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527048"/>
            <a:ext cx="30175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AFD6CD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66928" y="1527048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buy / sell app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75688" y="2322576"/>
            <a:ext cx="0" cy="384048"/>
          </a:xfrm>
          <a:prstGeom prst="line">
            <a:avLst/>
          </a:prstGeom>
          <a:noFill/>
          <a:ln w="22225">
            <a:solidFill>
              <a:srgbClr val="AFD6CD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87088" y="1527048"/>
            <a:ext cx="30175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AFD6CD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87088" y="1527048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dashboard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95848" y="2322576"/>
            <a:ext cx="0" cy="384048"/>
          </a:xfrm>
          <a:prstGeom prst="line">
            <a:avLst/>
          </a:prstGeom>
          <a:noFill/>
          <a:ln w="22225">
            <a:solidFill>
              <a:srgbClr val="AFD6C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607247" y="1527048"/>
            <a:ext cx="30175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AFD6CD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607247" y="1527048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/ partner app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116007" y="2322576"/>
            <a:ext cx="0" cy="384048"/>
          </a:xfrm>
          <a:prstGeom prst="line">
            <a:avLst/>
          </a:prstGeom>
          <a:noFill/>
          <a:ln w="22225">
            <a:solidFill>
              <a:srgbClr val="AFD6C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66928" y="2761488"/>
            <a:ext cx="11057839" cy="786384"/>
          </a:xfrm>
          <a:prstGeom prst="roundRect">
            <a:avLst>
              <a:gd name="adj" fmla="val 6977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66928" y="28986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2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INTERFACE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17296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 asks the same place, and gets the same answer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944368" y="3593592"/>
            <a:ext cx="0" cy="457200"/>
          </a:xfrm>
          <a:prstGeom prst="line">
            <a:avLst/>
          </a:prstGeom>
          <a:noFill/>
          <a:ln w="22225">
            <a:solidFill>
              <a:srgbClr val="AFD6C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253728" y="3593592"/>
            <a:ext cx="0" cy="457200"/>
          </a:xfrm>
          <a:prstGeom prst="line">
            <a:avLst/>
          </a:prstGeom>
          <a:noFill/>
          <a:ln w="22225">
            <a:solidFill>
              <a:srgbClr val="AFD6CD"/>
            </a:solidFill>
            <a:prstDash val="solid"/>
            <a:headEnd type="triangle"/>
          </a:ln>
        </p:spPr>
      </p:sp>
      <p:sp>
        <p:nvSpPr>
          <p:cNvPr id="18" name="Shape 16"/>
          <p:cNvSpPr/>
          <p:nvPr/>
        </p:nvSpPr>
        <p:spPr>
          <a:xfrm>
            <a:off x="566928" y="4114800"/>
            <a:ext cx="5003140" cy="1572768"/>
          </a:xfrm>
          <a:prstGeom prst="roundRect">
            <a:avLst>
              <a:gd name="adj" fmla="val 3488"/>
            </a:avLst>
          </a:prstGeom>
          <a:solidFill>
            <a:srgbClr val="0C3B3C"/>
          </a:solidFill>
          <a:ln w="12700">
            <a:solidFill>
              <a:srgbClr val="0C3B3C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77824" y="4297680"/>
            <a:ext cx="43813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record book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77824" y="4645152"/>
            <a:ext cx="43813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B9D2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change ever made — what moved, how much, who did it, when, and why. Written once and never edited.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52948" y="4901184"/>
            <a:ext cx="685800" cy="0"/>
          </a:xfrm>
          <a:prstGeom prst="line">
            <a:avLst/>
          </a:prstGeom>
          <a:noFill/>
          <a:ln w="22225">
            <a:solidFill>
              <a:srgbClr val="E8873A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5570068" y="460857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up to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21628" y="4114800"/>
            <a:ext cx="500314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AFD6CD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932524" y="4297680"/>
            <a:ext cx="43813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live count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932524" y="4645152"/>
            <a:ext cx="43813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on the shelf right now, per shop, per product — always the sum of the record book, never typed in by hand.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629107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live count is always rebuilt from the record book, any number on any screen can be traced back to the events that produced it.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working parts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429914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920240"/>
            <a:ext cx="475488" cy="475488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542032"/>
            <a:ext cx="28081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889504"/>
            <a:ext cx="28081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catalogue shared by every shop. Each product gets a permanent ID the moment it is created.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0890" y="1627632"/>
            <a:ext cx="3429914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1786" y="1920240"/>
            <a:ext cx="475488" cy="475488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91786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91786" y="2542032"/>
            <a:ext cx="28081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91786" y="2889504"/>
            <a:ext cx="28081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Warehouses, shops and holding areas. Stock always sits somewhere named.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94853" y="1627632"/>
            <a:ext cx="3429914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5749" y="1920240"/>
            <a:ext cx="475488" cy="475488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5749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505749" y="2542032"/>
            <a:ext cx="28081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record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505749" y="2889504"/>
            <a:ext cx="28081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permanent history of every quantity change, and the live count derived from it.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803904"/>
            <a:ext cx="3429914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77824" y="4096512"/>
            <a:ext cx="475488" cy="475488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77824" y="4096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77824" y="4718304"/>
            <a:ext cx="28081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Movements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77824" y="5065776"/>
            <a:ext cx="28081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Import, export and transfer — each one a ticket that has to be opened, tracked and closed.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80890" y="3803904"/>
            <a:ext cx="3429914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91786" y="4096512"/>
            <a:ext cx="475488" cy="475488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91786" y="4096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91786" y="4718304"/>
            <a:ext cx="28081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4691786" y="5065776"/>
            <a:ext cx="28081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Demand, supply, reorder points and dead stock, worked out per shop, per product.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94853" y="3803904"/>
            <a:ext cx="3429914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05749" y="4096512"/>
            <a:ext cx="475488" cy="475488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05749" y="4096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505749" y="4718304"/>
            <a:ext cx="28081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Alerts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8505749" y="5065776"/>
            <a:ext cx="28081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needs a person's attention, sent before it becomes a problem.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3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487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816352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Tracking every product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712464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DB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identity per product, three levels of detail, and a full record of everywhere it has been.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424160" y="2788920"/>
            <a:ext cx="1005840" cy="1005840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424160" y="27889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TRACKING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product gets one identity, automatically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a product is added, the system issues its identifiers. Nobody invents codes by hand, and no two shops can end up calling the same thing by different names.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94560"/>
            <a:ext cx="3429914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59536" y="2450592"/>
            <a:ext cx="28446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ID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59536" y="2779776"/>
            <a:ext cx="2844698" cy="475488"/>
          </a:xfrm>
          <a:prstGeom prst="roundRect">
            <a:avLst>
              <a:gd name="adj" fmla="val 9615"/>
            </a:avLst>
          </a:prstGeom>
          <a:solidFill>
            <a:srgbClr val="F4F7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2779776"/>
            <a:ext cx="284469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C3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a7f3e2c8-…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3364992"/>
            <a:ext cx="28446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the software only. Never shown to anyone, never reused.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0890" y="2194560"/>
            <a:ext cx="3429914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73498" y="2450592"/>
            <a:ext cx="28446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CODE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73498" y="2779776"/>
            <a:ext cx="2844698" cy="475488"/>
          </a:xfrm>
          <a:prstGeom prst="roundRect">
            <a:avLst>
              <a:gd name="adj" fmla="val 9615"/>
            </a:avLst>
          </a:prstGeom>
          <a:solidFill>
            <a:srgbClr val="F4F7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73498" y="2779776"/>
            <a:ext cx="284469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C3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PRD-2026-004178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673498" y="3364992"/>
            <a:ext cx="28446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people read out, print on labels and search by. Issued in order, with no gaps.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94853" y="2194560"/>
            <a:ext cx="3429914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487461" y="2450592"/>
            <a:ext cx="28446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487461" y="2779776"/>
            <a:ext cx="2844698" cy="475488"/>
          </a:xfrm>
          <a:prstGeom prst="roundRect">
            <a:avLst>
              <a:gd name="adj" fmla="val 9615"/>
            </a:avLst>
          </a:prstGeom>
          <a:solidFill>
            <a:srgbClr val="F4F7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87461" y="2779776"/>
            <a:ext cx="284469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C3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8901234567890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487461" y="3364992"/>
            <a:ext cx="28446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manufacturer's barcode, or one we generate. This is what gets scanned.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553712"/>
            <a:ext cx="11057839" cy="932688"/>
          </a:xfrm>
          <a:prstGeom prst="roundRect">
            <a:avLst>
              <a:gd name="adj" fmla="val 5882"/>
            </a:avLst>
          </a:prstGeom>
          <a:solidFill>
            <a:srgbClr val="0C3B3C"/>
          </a:solidFill>
          <a:ln w="12700">
            <a:solidFill>
              <a:srgbClr val="0C3B3C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50976" y="4754880"/>
            <a:ext cx="10289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product ID means the same thing in every shop and in every app.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50976" y="5065776"/>
            <a:ext cx="10289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D2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 hold stock; they do not invent their own product codes. This is what makes it possible to ask a question across all locations at once.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TRACKING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levels of detail, chosen per product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429914" cy="393192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554480"/>
            <a:ext cx="3429914" cy="932688"/>
          </a:xfrm>
          <a:prstGeom prst="roundRect">
            <a:avLst>
              <a:gd name="adj" fmla="val 5882"/>
            </a:avLst>
          </a:prstGeom>
          <a:solidFill>
            <a:srgbClr val="0E7C6B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2139696"/>
            <a:ext cx="3429914" cy="347472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9536" y="1700784"/>
            <a:ext cx="2844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quantity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048256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only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670048"/>
            <a:ext cx="284469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units at this location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for everyday goods where one unit is the same as any other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effort to run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4791456"/>
            <a:ext cx="28446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5029200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Rice, soap, stationery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80890" y="1554480"/>
            <a:ext cx="3429914" cy="393192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0890" y="1554480"/>
            <a:ext cx="3429914" cy="932688"/>
          </a:xfrm>
          <a:prstGeom prst="roundRect">
            <a:avLst>
              <a:gd name="adj" fmla="val 5882"/>
            </a:avLst>
          </a:prstGeom>
          <a:solidFill>
            <a:srgbClr val="E8873A"/>
          </a:solidFill>
          <a:ln/>
        </p:spPr>
      </p:sp>
      <p:sp>
        <p:nvSpPr>
          <p:cNvPr id="14" name="Shape 12"/>
          <p:cNvSpPr/>
          <p:nvPr/>
        </p:nvSpPr>
        <p:spPr>
          <a:xfrm>
            <a:off x="4380890" y="2139696"/>
            <a:ext cx="3429914" cy="347472"/>
          </a:xfrm>
          <a:prstGeom prst="rect">
            <a:avLst/>
          </a:prstGeom>
          <a:solidFill>
            <a:srgbClr val="E887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73498" y="1700784"/>
            <a:ext cx="2844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batch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673498" y="2048256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+ lot + expiry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673498" y="2670048"/>
            <a:ext cx="284469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lot each unit came from, and when it expires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Oldest stock is picked first, automatically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bad lot can be pulled and its buyers found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673498" y="4791456"/>
            <a:ext cx="28446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673498" y="5029200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Food, medicine, cosmetics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94853" y="1554480"/>
            <a:ext cx="3429914" cy="393192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94853" y="1554480"/>
            <a:ext cx="3429914" cy="932688"/>
          </a:xfrm>
          <a:prstGeom prst="roundRect">
            <a:avLst>
              <a:gd name="adj" fmla="val 5882"/>
            </a:avLst>
          </a:prstGeom>
          <a:solidFill>
            <a:srgbClr val="0E7C6B"/>
          </a:solidFill>
          <a:ln/>
        </p:spPr>
      </p:sp>
      <p:sp>
        <p:nvSpPr>
          <p:cNvPr id="22" name="Shape 20"/>
          <p:cNvSpPr/>
          <p:nvPr/>
        </p:nvSpPr>
        <p:spPr>
          <a:xfrm>
            <a:off x="8194853" y="2139696"/>
            <a:ext cx="3429914" cy="347472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487461" y="1700784"/>
            <a:ext cx="2844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serial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8487461" y="2048256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unit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487461" y="2670048"/>
            <a:ext cx="284469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individual unit tracked by its own number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history: where it is now, everywhere it has been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 and ownership provable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487461" y="4791456"/>
            <a:ext cx="28446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487461" y="5029200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Appliances, electronics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629107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per product, not per shop — so the level of control matches the value and the risk of each item.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TRACKING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life of a single unit, start to finish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2139696"/>
            <a:ext cx="1627632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AFD6CD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2340864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Bought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651760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invoice recorded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179576" y="1737360"/>
            <a:ext cx="402336" cy="402336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9576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40280" y="2743200"/>
            <a:ext cx="166969" cy="0"/>
          </a:xfrm>
          <a:prstGeom prst="line">
            <a:avLst/>
          </a:prstGeom>
          <a:noFill/>
          <a:ln w="22225">
            <a:solidFill>
              <a:srgbClr val="AFD6C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452969" y="2139696"/>
            <a:ext cx="1627632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AFD6CD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544409" y="2340864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Received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544409" y="2651760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Counted, checked, ID issued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65617" y="1737360"/>
            <a:ext cx="402336" cy="402336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065617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26321" y="2743200"/>
            <a:ext cx="166969" cy="0"/>
          </a:xfrm>
          <a:prstGeom prst="line">
            <a:avLst/>
          </a:prstGeom>
          <a:noFill/>
          <a:ln w="22225">
            <a:solidFill>
              <a:srgbClr val="AFD6C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39011" y="2139696"/>
            <a:ext cx="1627632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AFD6CD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430451" y="2340864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430451" y="2651760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Shelved at a named location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51659" y="1737360"/>
            <a:ext cx="402336" cy="402336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951659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12363" y="2743200"/>
            <a:ext cx="166969" cy="0"/>
          </a:xfrm>
          <a:prstGeom prst="line">
            <a:avLst/>
          </a:prstGeom>
          <a:noFill/>
          <a:ln w="22225">
            <a:solidFill>
              <a:srgbClr val="AFD6C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225052" y="2139696"/>
            <a:ext cx="1627632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AFD6CD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316492" y="2340864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Moved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316492" y="2651760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Transferred to another shop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37700" y="1737360"/>
            <a:ext cx="402336" cy="402336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3770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898404" y="2743200"/>
            <a:ext cx="166969" cy="0"/>
          </a:xfrm>
          <a:prstGeom prst="line">
            <a:avLst/>
          </a:prstGeom>
          <a:noFill/>
          <a:ln w="22225">
            <a:solidFill>
              <a:srgbClr val="AFD6CD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111094" y="2139696"/>
            <a:ext cx="1627632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AFD6CD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202534" y="2340864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Reserved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202534" y="2651760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for a customer order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723742" y="1737360"/>
            <a:ext cx="402336" cy="402336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723742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784446" y="2743200"/>
            <a:ext cx="166969" cy="0"/>
          </a:xfrm>
          <a:prstGeom prst="line">
            <a:avLst/>
          </a:prstGeom>
          <a:noFill/>
          <a:ln w="22225">
            <a:solidFill>
              <a:srgbClr val="AFD6CD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997135" y="2139696"/>
            <a:ext cx="1627632" cy="1207008"/>
          </a:xfrm>
          <a:prstGeom prst="roundRect">
            <a:avLst>
              <a:gd name="adj" fmla="val 4545"/>
            </a:avLst>
          </a:prstGeom>
          <a:solidFill>
            <a:srgbClr val="0C3B3C"/>
          </a:solidFill>
          <a:ln w="12700">
            <a:solidFill>
              <a:srgbClr val="0C3B3C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10088575" y="2340864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Sold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10088575" y="2651760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B9D2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stock, revenue booked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609783" y="1737360"/>
            <a:ext cx="402336" cy="402336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0609783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66928" y="3749040"/>
            <a:ext cx="11057839" cy="1773936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950976" y="4005072"/>
            <a:ext cx="1028974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one of those six steps writes a permanent line in the record book.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950976" y="4443984"/>
            <a:ext cx="237744" cy="237744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50976" y="44439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1316736" y="4407408"/>
            <a:ext cx="4596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where any unit is today — and everywhere it has been before.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278728" y="4443984"/>
            <a:ext cx="237744" cy="237744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278728" y="44439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644488" y="4407408"/>
            <a:ext cx="4596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what the stock position was on any past date, and get the real answer.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950976" y="4956048"/>
            <a:ext cx="237744" cy="237744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50976" y="49560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1316736" y="4919472"/>
            <a:ext cx="4596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 faulty batch to every shop that received it and every customer who bought it.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278728" y="4956048"/>
            <a:ext cx="237744" cy="237744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278728" y="49560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6644488" y="4919472"/>
            <a:ext cx="4596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ever deleted; a correction is a new line that explains itself.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3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487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816352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Import, export &amp; transfer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712464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DB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moves without a ticket. No ticket closes until the goods arrive and the numbers agree.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424160" y="2788920"/>
            <a:ext cx="1005840" cy="1005840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424160" y="27889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kinds of movement, one way of handling them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429914" cy="3950208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59536" y="1810512"/>
            <a:ext cx="28446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· STOCK IN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59536" y="2066544"/>
            <a:ext cx="28446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560320"/>
            <a:ext cx="284469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arrive from outside the business — a supplier delivery, a market purchase, or a customer return.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59536" y="3419856"/>
            <a:ext cx="2844698" cy="0"/>
          </a:xfrm>
          <a:prstGeom prst="line">
            <a:avLst/>
          </a:prstGeom>
          <a:noFill/>
          <a:ln w="12700">
            <a:solidFill>
              <a:srgbClr val="AFD6C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9536" y="3547872"/>
            <a:ext cx="28446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bill recorded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and quality-checked on arrival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Shortages and damage logged then, not later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goods locked in at this moment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0890" y="1554480"/>
            <a:ext cx="3429914" cy="3950208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73498" y="1810512"/>
            <a:ext cx="28446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· STOCK OUT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673498" y="2066544"/>
            <a:ext cx="28446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4673498" y="2560320"/>
            <a:ext cx="284469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leave the business — sold to a customer, returned to a supplier, or written off.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73498" y="3419856"/>
            <a:ext cx="2844698" cy="0"/>
          </a:xfrm>
          <a:prstGeom prst="line">
            <a:avLst/>
          </a:prstGeom>
          <a:noFill/>
          <a:ln w="12700">
            <a:solidFill>
              <a:srgbClr val="AFD6C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73498" y="3547872"/>
            <a:ext cx="28446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bill raised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 and packed against the order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reduced when it physically leaves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and profit recorded together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94853" y="1554480"/>
            <a:ext cx="3429914" cy="3950208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87461" y="1810512"/>
            <a:ext cx="28446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· STOCK MOVES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8487461" y="2066544"/>
            <a:ext cx="28446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</a:t>
            </a:r>
            <a:endParaRPr lang="en-US" sz="2500" dirty="0"/>
          </a:p>
        </p:txBody>
      </p:sp>
      <p:sp>
        <p:nvSpPr>
          <p:cNvPr id="19" name="Text 17"/>
          <p:cNvSpPr txBox="1"/>
          <p:nvPr/>
        </p:nvSpPr>
        <p:spPr>
          <a:xfrm>
            <a:off x="8487461" y="2560320"/>
            <a:ext cx="284469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move between your own locations — warehouse to shop, or shop to shop.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87461" y="3419856"/>
            <a:ext cx="2844698" cy="0"/>
          </a:xfrm>
          <a:prstGeom prst="line">
            <a:avLst/>
          </a:prstGeom>
          <a:noFill/>
          <a:ln w="12700">
            <a:solidFill>
              <a:srgbClr val="AFD6C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87461" y="3547872"/>
            <a:ext cx="28446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note, not a bill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sale, no tax, no profit created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tracked while in transit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and checked at the other end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and external movement are not the same thing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3767328" y="1527048"/>
            <a:ext cx="3928720" cy="512064"/>
          </a:xfrm>
          <a:prstGeom prst="rect">
            <a:avLst/>
          </a:prstGeom>
          <a:solidFill>
            <a:srgbClr val="E887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767328" y="1527048"/>
            <a:ext cx="392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 ·  Import &amp; export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696048" y="1527048"/>
            <a:ext cx="3928720" cy="5120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96048" y="1527048"/>
            <a:ext cx="392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 ·  Transfer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039112"/>
            <a:ext cx="11057839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86384" y="2039112"/>
            <a:ext cx="2871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at the other end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986784" y="2039112"/>
            <a:ext cx="3489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business — supplier or customer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915504" y="2039112"/>
            <a:ext cx="3489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of your own locations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569464"/>
            <a:ext cx="11057839" cy="530352"/>
          </a:xfrm>
          <a:prstGeom prst="rect">
            <a:avLst/>
          </a:prstGeom>
          <a:solidFill>
            <a:srgbClr val="EDF3F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86384" y="2569464"/>
            <a:ext cx="2871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Paperwork produced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986784" y="2569464"/>
            <a:ext cx="3489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tax bill or invoice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915504" y="2569464"/>
            <a:ext cx="3489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delivery note only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099816"/>
            <a:ext cx="11057839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86384" y="3099816"/>
            <a:ext cx="2871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charged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986784" y="3099816"/>
            <a:ext cx="3489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915504" y="3099816"/>
            <a:ext cx="3489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you cannot sell to yourself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3630168"/>
            <a:ext cx="11057839" cy="530352"/>
          </a:xfrm>
          <a:prstGeom prst="rect">
            <a:avLst/>
          </a:prstGeom>
          <a:solidFill>
            <a:srgbClr val="EDF3F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86384" y="3630168"/>
            <a:ext cx="2871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recorded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986784" y="3630168"/>
            <a:ext cx="3489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this is a real sale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915504" y="3630168"/>
            <a:ext cx="3489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only the location changes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160520"/>
            <a:ext cx="11057839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86384" y="4160520"/>
            <a:ext cx="2871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of the goods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86784" y="4160520"/>
            <a:ext cx="3489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by the price agreed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915504" y="4160520"/>
            <a:ext cx="3489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Unchanged; it travels with the goods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4690872"/>
            <a:ext cx="11057839" cy="530352"/>
          </a:xfrm>
          <a:prstGeom prst="rect">
            <a:avLst/>
          </a:prstGeom>
          <a:solidFill>
            <a:srgbClr val="EDF3F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86384" y="4690872"/>
            <a:ext cx="2871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needed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986784" y="4690872"/>
            <a:ext cx="3489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value and credit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915504" y="4690872"/>
            <a:ext cx="3489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approval before it can be picked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6928" y="5440680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BE7D4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96112" y="5440680"/>
            <a:ext cx="1039947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treating an internal transfer as a sale inflates your revenue and corrupts your stock value at the same time. The system keeps them separate by design.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movement is a ticket, tracked stage by stage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938528"/>
            <a:ext cx="1627632" cy="658368"/>
          </a:xfrm>
          <a:prstGeom prst="roundRect">
            <a:avLst>
              <a:gd name="adj" fmla="val 8333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66928" y="1938528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267004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requests the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31136" y="2267712"/>
            <a:ext cx="185257" cy="0"/>
          </a:xfrm>
          <a:prstGeom prst="line">
            <a:avLst/>
          </a:prstGeom>
          <a:noFill/>
          <a:ln w="22225">
            <a:solidFill>
              <a:srgbClr val="AFD6CD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52969" y="1938528"/>
            <a:ext cx="1627632" cy="658368"/>
          </a:xfrm>
          <a:prstGeom prst="roundRect">
            <a:avLst>
              <a:gd name="adj" fmla="val 8333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452969" y="1938528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489545" y="267004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and authorised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7177" y="2267712"/>
            <a:ext cx="185257" cy="0"/>
          </a:xfrm>
          <a:prstGeom prst="line">
            <a:avLst/>
          </a:prstGeom>
          <a:noFill/>
          <a:ln w="22225">
            <a:solidFill>
              <a:srgbClr val="AFD6C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39011" y="1938528"/>
            <a:ext cx="1627632" cy="658368"/>
          </a:xfrm>
          <a:prstGeom prst="roundRect">
            <a:avLst>
              <a:gd name="adj" fmla="val 8333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339011" y="1938528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375587" y="267004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pulled from the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03219" y="2267712"/>
            <a:ext cx="185257" cy="0"/>
          </a:xfrm>
          <a:prstGeom prst="line">
            <a:avLst/>
          </a:prstGeom>
          <a:noFill/>
          <a:ln w="22225">
            <a:solidFill>
              <a:srgbClr val="AFD6C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25052" y="1938528"/>
            <a:ext cx="1627632" cy="658368"/>
          </a:xfrm>
          <a:prstGeom prst="roundRect">
            <a:avLst>
              <a:gd name="adj" fmla="val 8333"/>
            </a:avLst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225052" y="1938528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61628" y="267004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physically leave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889260" y="2267712"/>
            <a:ext cx="185257" cy="0"/>
          </a:xfrm>
          <a:prstGeom prst="line">
            <a:avLst/>
          </a:prstGeom>
          <a:noFill/>
          <a:ln w="22225">
            <a:solidFill>
              <a:srgbClr val="AFD6C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11094" y="1938528"/>
            <a:ext cx="1627632" cy="658368"/>
          </a:xfrm>
          <a:prstGeom prst="roundRect">
            <a:avLst>
              <a:gd name="adj" fmla="val 8333"/>
            </a:avLst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111094" y="1938528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transit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147670" y="267004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road — owned by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end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775302" y="2267712"/>
            <a:ext cx="185257" cy="0"/>
          </a:xfrm>
          <a:prstGeom prst="line">
            <a:avLst/>
          </a:prstGeom>
          <a:noFill/>
          <a:ln w="22225">
            <a:solidFill>
              <a:srgbClr val="AFD6CD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997135" y="1938528"/>
            <a:ext cx="1627632" cy="658368"/>
          </a:xfrm>
          <a:prstGeom prst="roundRect">
            <a:avLst>
              <a:gd name="adj" fmla="val 8333"/>
            </a:avLst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997135" y="1938528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033711" y="267004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on arrival at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destination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1609344"/>
            <a:ext cx="5399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— nothing has moved yet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225052" y="1609344"/>
            <a:ext cx="53997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— the goods are on the move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6928" y="3584448"/>
            <a:ext cx="536305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0E7C6B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77824" y="3858768"/>
            <a:ext cx="457200" cy="457200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77824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481328" y="3858768"/>
            <a:ext cx="41377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 agree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1481328" y="4242816"/>
            <a:ext cx="41377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is added at the destination, the transit record clears, and the ticket closes on its own. No one has to do anything.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61715" y="3584448"/>
            <a:ext cx="536305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BF4A3A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72611" y="3858768"/>
            <a:ext cx="457200" cy="457200"/>
          </a:xfrm>
          <a:prstGeom prst="ellipse">
            <a:avLst/>
          </a:prstGeom>
          <a:solidFill>
            <a:srgbClr val="BF4A3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72611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7176115" y="3858768"/>
            <a:ext cx="41377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 disagree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7176115" y="4242816"/>
            <a:ext cx="41377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ticket cannot close. It moves to a query state that needs a reason and a manager's approval before it can go any further.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66928" y="629107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ticket can be cancelled up to the moment of dispatch, and never after — once goods have physically moved, the only way back is a return, which leaves its own record.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Goods in transit belong to nobody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changes exactly twice in a transfer: once when it leaves, and once when it arrives. In between it sits in a transit record that neither shop can sell from.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322576"/>
            <a:ext cx="3127248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AFD6CD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560320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Warehouse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99232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E7C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 →  400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3547872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units leave the shelf here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49040" y="3236976"/>
            <a:ext cx="728320" cy="0"/>
          </a:xfrm>
          <a:prstGeom prst="line">
            <a:avLst/>
          </a:prstGeom>
          <a:noFill/>
          <a:ln w="22225">
            <a:solidFill>
              <a:srgbClr val="E8873A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3694176" y="2889504"/>
            <a:ext cx="838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32224" y="2322576"/>
            <a:ext cx="3127248" cy="1874520"/>
          </a:xfrm>
          <a:prstGeom prst="roundRect">
            <a:avLst>
              <a:gd name="adj" fmla="val 2927"/>
            </a:avLst>
          </a:prstGeom>
          <a:solidFill>
            <a:srgbClr val="0C3B3C"/>
          </a:solidFill>
          <a:ln w="12700">
            <a:solidFill>
              <a:srgbClr val="0C3B3C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788256" y="2560320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transit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788256" y="2999232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8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→  100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4751680" y="3547872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B9D2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sellable from either end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14336" y="3236976"/>
            <a:ext cx="728320" cy="0"/>
          </a:xfrm>
          <a:prstGeom prst="line">
            <a:avLst/>
          </a:prstGeom>
          <a:noFill/>
          <a:ln w="22225">
            <a:solidFill>
              <a:srgbClr val="E8873A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7659472" y="2889504"/>
            <a:ext cx="838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497519" y="2322576"/>
            <a:ext cx="3127248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AFD6CD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753551" y="2560320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 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753551" y="2999232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E7C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 →  140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8716975" y="3547872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units land on the shelf here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4535424"/>
            <a:ext cx="11057839" cy="1170432"/>
          </a:xfrm>
          <a:prstGeom prst="roundRect">
            <a:avLst>
              <a:gd name="adj" fmla="val 4688"/>
            </a:avLst>
          </a:prstGeom>
          <a:solidFill>
            <a:srgbClr val="FBE7D4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2688" y="4736592"/>
            <a:ext cx="103263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8A4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932688" y="5047488"/>
            <a:ext cx="1032631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transit record, those 100 units are either counted twice — visible in both shops — or vanish for two days. Both mistakes cause the same thing: someone orders goods that are already on the way.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ticket closes only when every unit is accounted for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quantity is never enough. These five numbers genuinely differ, and each gap has a different cause, a different owner and a different cost.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23113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C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304288" y="2231136"/>
            <a:ext cx="4937760" cy="475488"/>
          </a:xfrm>
          <a:prstGeom prst="roundRect">
            <a:avLst>
              <a:gd name="adj" fmla="val 9615"/>
            </a:avLst>
          </a:prstGeom>
          <a:solidFill>
            <a:srgbClr val="0E7C6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487168" y="223113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534656" y="2231136"/>
            <a:ext cx="407182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3 asked for 100 units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01752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C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304288" y="3017520"/>
            <a:ext cx="4098341" cy="475488"/>
          </a:xfrm>
          <a:prstGeom prst="roundRect">
            <a:avLst>
              <a:gd name="adj" fmla="val 9615"/>
            </a:avLst>
          </a:prstGeom>
          <a:solidFill>
            <a:srgbClr val="0E7C6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487168" y="301752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534656" y="3017520"/>
            <a:ext cx="407182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were already damaged on the warehouse shelf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C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304288" y="3803904"/>
            <a:ext cx="3555187" cy="475488"/>
          </a:xfrm>
          <a:prstGeom prst="roundRect">
            <a:avLst>
              <a:gd name="adj" fmla="val 9615"/>
            </a:avLst>
          </a:prstGeom>
          <a:solidFill>
            <a:srgbClr val="E887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487168" y="3803904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534656" y="3803904"/>
            <a:ext cx="407182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went missing in transit — carrier query raised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459028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C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304288" y="4590288"/>
            <a:ext cx="2962656" cy="475488"/>
          </a:xfrm>
          <a:prstGeom prst="roundRect">
            <a:avLst>
              <a:gd name="adj" fmla="val 9615"/>
            </a:avLst>
          </a:prstGeom>
          <a:solidFill>
            <a:srgbClr val="E8873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487168" y="459028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534656" y="4590288"/>
            <a:ext cx="407182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arrived crushed and were rejected on arrival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5559552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0C3B3C"/>
          </a:solidFill>
          <a:ln w="12700">
            <a:solidFill>
              <a:srgbClr val="0C3B3C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32688" y="5559552"/>
            <a:ext cx="103263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= 94 accepted + 3 rejected + 2 never sent + 1 lost in transit.  Every unit explained, so the ticket can close.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numbers disagree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938528"/>
            <a:ext cx="2517572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69682" y="1682496"/>
            <a:ext cx="512064" cy="512064"/>
          </a:xfrm>
          <a:prstGeom prst="ellipse">
            <a:avLst/>
          </a:prstGeom>
          <a:solidFill>
            <a:srgbClr val="BF4A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69682" y="16824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450592"/>
            <a:ext cx="20420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raised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834640"/>
            <a:ext cx="20420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ticket stops. It cannot be closed or ignored, and it stays visible on the board.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30220" y="3081528"/>
            <a:ext cx="237744" cy="0"/>
          </a:xfrm>
          <a:prstGeom prst="line">
            <a:avLst/>
          </a:prstGeom>
          <a:noFill/>
          <a:ln w="22225">
            <a:solidFill>
              <a:srgbClr val="AFD6C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13684" y="1938528"/>
            <a:ext cx="2517572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16438" y="1682496"/>
            <a:ext cx="512064" cy="512064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16438" y="16824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51428" y="2450592"/>
            <a:ext cx="20420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Cause recorded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51428" y="2834640"/>
            <a:ext cx="20420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excess, damaged or wrong item — chosen from a fixed list, not typed as free text.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76976" y="3081528"/>
            <a:ext cx="237744" cy="0"/>
          </a:xfrm>
          <a:prstGeom prst="line">
            <a:avLst/>
          </a:prstGeom>
          <a:noFill/>
          <a:ln w="22225">
            <a:solidFill>
              <a:srgbClr val="AFD6C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60440" y="1938528"/>
            <a:ext cx="2517572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63193" y="1682496"/>
            <a:ext cx="512064" cy="512064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63193" y="16824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98184" y="2450592"/>
            <a:ext cx="20420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 approves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98184" y="2834640"/>
            <a:ext cx="20420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person signs off the correction. Nobody can quietly adjust stock alone.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823731" y="3081528"/>
            <a:ext cx="237744" cy="0"/>
          </a:xfrm>
          <a:prstGeom prst="line">
            <a:avLst/>
          </a:prstGeom>
          <a:noFill/>
          <a:ln w="22225">
            <a:solidFill>
              <a:srgbClr val="AFD6C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07195" y="1938528"/>
            <a:ext cx="2517572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109949" y="1682496"/>
            <a:ext cx="512064" cy="512064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109949" y="16824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344939" y="2450592"/>
            <a:ext cx="20420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corrected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344939" y="2834640"/>
            <a:ext cx="20420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adjustment is written to the record book with its reason attached, then the ticket closes.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4517136"/>
            <a:ext cx="11057839" cy="1133856"/>
          </a:xfrm>
          <a:prstGeom prst="roundRect">
            <a:avLst>
              <a:gd name="adj" fmla="val 4839"/>
            </a:avLst>
          </a:prstGeom>
          <a:solidFill>
            <a:srgbClr val="0C3B3C"/>
          </a:solidFill>
          <a:ln w="12700">
            <a:solidFill>
              <a:srgbClr val="0C3B3C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50976" y="4718304"/>
            <a:ext cx="1028974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is no path from a mismatch straight to a closed ticket.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950976" y="5065776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9D2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single rule is what makes a closed ticket mean something. If a shortage could be closed away quietly, every closed ticket in the system would be worth nothing as evidence.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3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487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816352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&amp; supply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712464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DB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 for every inventory, showing what is selling, what is arriving, and what is about to run out.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424160" y="2788920"/>
            <a:ext cx="1005840" cy="1005840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424160" y="27889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&amp; SUPPLY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inventory gets its own dashboard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11057839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536192"/>
            <a:ext cx="11057839" cy="566928"/>
          </a:xfrm>
          <a:prstGeom prst="rect">
            <a:avLst/>
          </a:prstGeom>
          <a:solidFill>
            <a:srgbClr val="0C3B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53619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3  ·  Andheri West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0" y="166420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749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0" y="16642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E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locations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114032" y="166420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749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14032" y="16642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E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284464" y="166420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749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84464" y="16642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E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1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454896" y="166420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749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54896" y="16642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E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2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625328" y="166420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0E7C6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625328" y="16642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3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41248" y="2286000"/>
            <a:ext cx="2421560" cy="987552"/>
          </a:xfrm>
          <a:prstGeom prst="roundRect">
            <a:avLst>
              <a:gd name="adj" fmla="val 5556"/>
            </a:avLst>
          </a:prstGeom>
          <a:solidFill>
            <a:srgbClr val="F4F7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24128" y="2395728"/>
            <a:ext cx="205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1,284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2889504"/>
            <a:ext cx="205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stocked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537128" y="2286000"/>
            <a:ext cx="2421560" cy="987552"/>
          </a:xfrm>
          <a:prstGeom prst="roundRect">
            <a:avLst>
              <a:gd name="adj" fmla="val 5556"/>
            </a:avLst>
          </a:prstGeom>
          <a:solidFill>
            <a:srgbClr val="F4F7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720008" y="2395728"/>
            <a:ext cx="205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₹18.4 L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3720008" y="2889504"/>
            <a:ext cx="205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value here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33008" y="2286000"/>
            <a:ext cx="2421560" cy="987552"/>
          </a:xfrm>
          <a:prstGeom prst="roundRect">
            <a:avLst>
              <a:gd name="adj" fmla="val 5556"/>
            </a:avLst>
          </a:prstGeom>
          <a:solidFill>
            <a:srgbClr val="F4F7F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15888" y="2395728"/>
            <a:ext cx="205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8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6415888" y="2889504"/>
            <a:ext cx="205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reorder point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928887" y="2286000"/>
            <a:ext cx="2421560" cy="987552"/>
          </a:xfrm>
          <a:prstGeom prst="roundRect">
            <a:avLst>
              <a:gd name="adj" fmla="val 5556"/>
            </a:avLst>
          </a:prstGeom>
          <a:solidFill>
            <a:srgbClr val="F4F7F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11767" y="2395728"/>
            <a:ext cx="205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F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9111767" y="2889504"/>
            <a:ext cx="205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Expiring this week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41248" y="34564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PER DAY  ·  LAST 14 DAYS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59536" y="4425696"/>
            <a:ext cx="246888" cy="585216"/>
          </a:xfrm>
          <a:prstGeom prst="rect">
            <a:avLst/>
          </a:prstGeom>
          <a:solidFill>
            <a:srgbClr val="AFD6CD"/>
          </a:solidFill>
          <a:ln/>
        </p:spPr>
      </p:sp>
      <p:sp>
        <p:nvSpPr>
          <p:cNvPr id="31" name="Shape 29"/>
          <p:cNvSpPr/>
          <p:nvPr/>
        </p:nvSpPr>
        <p:spPr>
          <a:xfrm>
            <a:off x="1225296" y="4215018"/>
            <a:ext cx="246888" cy="795894"/>
          </a:xfrm>
          <a:prstGeom prst="rect">
            <a:avLst/>
          </a:prstGeom>
          <a:solidFill>
            <a:srgbClr val="AFD6CD"/>
          </a:solidFill>
          <a:ln/>
        </p:spPr>
      </p:sp>
      <p:sp>
        <p:nvSpPr>
          <p:cNvPr id="32" name="Shape 30"/>
          <p:cNvSpPr/>
          <p:nvPr/>
        </p:nvSpPr>
        <p:spPr>
          <a:xfrm>
            <a:off x="1591056" y="4519331"/>
            <a:ext cx="246888" cy="491581"/>
          </a:xfrm>
          <a:prstGeom prst="rect">
            <a:avLst/>
          </a:prstGeom>
          <a:solidFill>
            <a:srgbClr val="AFD6CD"/>
          </a:solidFill>
          <a:ln/>
        </p:spPr>
      </p:sp>
      <p:sp>
        <p:nvSpPr>
          <p:cNvPr id="33" name="Shape 31"/>
          <p:cNvSpPr/>
          <p:nvPr/>
        </p:nvSpPr>
        <p:spPr>
          <a:xfrm>
            <a:off x="1956816" y="4133088"/>
            <a:ext cx="246888" cy="877824"/>
          </a:xfrm>
          <a:prstGeom prst="rect">
            <a:avLst/>
          </a:prstGeom>
          <a:solidFill>
            <a:srgbClr val="AFD6CD"/>
          </a:solidFill>
          <a:ln/>
        </p:spPr>
      </p:sp>
      <p:sp>
        <p:nvSpPr>
          <p:cNvPr id="34" name="Shape 32"/>
          <p:cNvSpPr/>
          <p:nvPr/>
        </p:nvSpPr>
        <p:spPr>
          <a:xfrm>
            <a:off x="2322576" y="3957523"/>
            <a:ext cx="246888" cy="1053389"/>
          </a:xfrm>
          <a:prstGeom prst="rect">
            <a:avLst/>
          </a:prstGeom>
          <a:solidFill>
            <a:srgbClr val="AFD6CD"/>
          </a:solidFill>
          <a:ln/>
        </p:spPr>
      </p:sp>
      <p:sp>
        <p:nvSpPr>
          <p:cNvPr id="35" name="Shape 33"/>
          <p:cNvSpPr/>
          <p:nvPr/>
        </p:nvSpPr>
        <p:spPr>
          <a:xfrm>
            <a:off x="2688336" y="4285244"/>
            <a:ext cx="246888" cy="725668"/>
          </a:xfrm>
          <a:prstGeom prst="rect">
            <a:avLst/>
          </a:prstGeom>
          <a:solidFill>
            <a:srgbClr val="AFD6CD"/>
          </a:solidFill>
          <a:ln/>
        </p:spPr>
      </p:sp>
      <p:sp>
        <p:nvSpPr>
          <p:cNvPr id="36" name="Shape 34"/>
          <p:cNvSpPr/>
          <p:nvPr/>
        </p:nvSpPr>
        <p:spPr>
          <a:xfrm>
            <a:off x="3054096" y="4367174"/>
            <a:ext cx="246888" cy="643738"/>
          </a:xfrm>
          <a:prstGeom prst="rect">
            <a:avLst/>
          </a:prstGeom>
          <a:solidFill>
            <a:srgbClr val="AFD6CD"/>
          </a:solidFill>
          <a:ln/>
        </p:spPr>
      </p:sp>
      <p:sp>
        <p:nvSpPr>
          <p:cNvPr id="37" name="Shape 35"/>
          <p:cNvSpPr/>
          <p:nvPr/>
        </p:nvSpPr>
        <p:spPr>
          <a:xfrm>
            <a:off x="3419856" y="4074566"/>
            <a:ext cx="246888" cy="936346"/>
          </a:xfrm>
          <a:prstGeom prst="rect">
            <a:avLst/>
          </a:prstGeom>
          <a:solidFill>
            <a:srgbClr val="AFD6CD"/>
          </a:solidFill>
          <a:ln/>
        </p:spPr>
      </p:sp>
      <p:sp>
        <p:nvSpPr>
          <p:cNvPr id="38" name="Shape 36"/>
          <p:cNvSpPr/>
          <p:nvPr/>
        </p:nvSpPr>
        <p:spPr>
          <a:xfrm>
            <a:off x="3785616" y="4449105"/>
            <a:ext cx="246888" cy="561807"/>
          </a:xfrm>
          <a:prstGeom prst="rect">
            <a:avLst/>
          </a:prstGeom>
          <a:solidFill>
            <a:srgbClr val="AFD6CD"/>
          </a:solidFill>
          <a:ln/>
        </p:spPr>
      </p:sp>
      <p:sp>
        <p:nvSpPr>
          <p:cNvPr id="39" name="Shape 37"/>
          <p:cNvSpPr/>
          <p:nvPr/>
        </p:nvSpPr>
        <p:spPr>
          <a:xfrm>
            <a:off x="4151376" y="4191610"/>
            <a:ext cx="246888" cy="819302"/>
          </a:xfrm>
          <a:prstGeom prst="rect">
            <a:avLst/>
          </a:prstGeom>
          <a:solidFill>
            <a:srgbClr val="AFD6CD"/>
          </a:solidFill>
          <a:ln/>
        </p:spPr>
      </p:sp>
      <p:sp>
        <p:nvSpPr>
          <p:cNvPr id="40" name="Shape 38"/>
          <p:cNvSpPr/>
          <p:nvPr/>
        </p:nvSpPr>
        <p:spPr>
          <a:xfrm>
            <a:off x="4517136" y="3899002"/>
            <a:ext cx="246888" cy="1111910"/>
          </a:xfrm>
          <a:prstGeom prst="rect">
            <a:avLst/>
          </a:prstGeom>
          <a:solidFill>
            <a:srgbClr val="E8873A"/>
          </a:solidFill>
          <a:ln/>
        </p:spPr>
      </p:sp>
      <p:sp>
        <p:nvSpPr>
          <p:cNvPr id="41" name="Shape 39"/>
          <p:cNvSpPr/>
          <p:nvPr/>
        </p:nvSpPr>
        <p:spPr>
          <a:xfrm>
            <a:off x="4882896" y="4308653"/>
            <a:ext cx="246888" cy="702259"/>
          </a:xfrm>
          <a:prstGeom prst="rect">
            <a:avLst/>
          </a:prstGeom>
          <a:solidFill>
            <a:srgbClr val="AFD6CD"/>
          </a:solidFill>
          <a:ln/>
        </p:spPr>
      </p:sp>
      <p:sp>
        <p:nvSpPr>
          <p:cNvPr id="42" name="Shape 40"/>
          <p:cNvSpPr/>
          <p:nvPr/>
        </p:nvSpPr>
        <p:spPr>
          <a:xfrm>
            <a:off x="5248656" y="4168201"/>
            <a:ext cx="246888" cy="842711"/>
          </a:xfrm>
          <a:prstGeom prst="rect">
            <a:avLst/>
          </a:prstGeom>
          <a:solidFill>
            <a:srgbClr val="AFD6CD"/>
          </a:solidFill>
          <a:ln/>
        </p:spPr>
      </p:sp>
      <p:sp>
        <p:nvSpPr>
          <p:cNvPr id="43" name="Shape 41"/>
          <p:cNvSpPr/>
          <p:nvPr/>
        </p:nvSpPr>
        <p:spPr>
          <a:xfrm>
            <a:off x="5614416" y="4016045"/>
            <a:ext cx="246888" cy="994867"/>
          </a:xfrm>
          <a:prstGeom prst="rect">
            <a:avLst/>
          </a:prstGeom>
          <a:solidFill>
            <a:srgbClr val="AFD6CD"/>
          </a:solidFill>
          <a:ln/>
        </p:spPr>
      </p:sp>
      <p:sp>
        <p:nvSpPr>
          <p:cNvPr id="44" name="Shape 42"/>
          <p:cNvSpPr/>
          <p:nvPr/>
        </p:nvSpPr>
        <p:spPr>
          <a:xfrm>
            <a:off x="841248" y="5029200"/>
            <a:ext cx="5120640" cy="0"/>
          </a:xfrm>
          <a:prstGeom prst="line">
            <a:avLst/>
          </a:prstGeom>
          <a:noFill/>
          <a:ln w="12700">
            <a:solidFill>
              <a:srgbClr val="AFD6C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19088" y="345643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ATTENTION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419088" y="3867912"/>
            <a:ext cx="146304" cy="146304"/>
          </a:xfrm>
          <a:prstGeom prst="ellipse">
            <a:avLst/>
          </a:prstGeom>
          <a:solidFill>
            <a:srgbClr val="BF4A3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711696" y="37673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Toor Dal 1kg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8887968" y="37673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left · 2 days cover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419088" y="4133088"/>
            <a:ext cx="4846320" cy="0"/>
          </a:xfrm>
          <a:prstGeom prst="line">
            <a:avLst/>
          </a:prstGeom>
          <a:noFill/>
          <a:ln w="12700">
            <a:solidFill>
              <a:srgbClr val="E4ED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19088" y="4251960"/>
            <a:ext cx="146304" cy="146304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711696" y="41513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Oil 1L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8887968" y="41513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left · below reorder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419088" y="4517136"/>
            <a:ext cx="4846320" cy="0"/>
          </a:xfrm>
          <a:prstGeom prst="line">
            <a:avLst/>
          </a:prstGeom>
          <a:noFill/>
          <a:ln w="12700">
            <a:solidFill>
              <a:srgbClr val="E4EDE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19088" y="4636008"/>
            <a:ext cx="146304" cy="146304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6711696" y="45354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500ml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8887968" y="45354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units expire Thursday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419088" y="4901184"/>
            <a:ext cx="4846320" cy="0"/>
          </a:xfrm>
          <a:prstGeom prst="line">
            <a:avLst/>
          </a:prstGeom>
          <a:noFill/>
          <a:ln w="12700">
            <a:solidFill>
              <a:srgbClr val="E4EDE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19088" y="5020056"/>
            <a:ext cx="146304" cy="146304"/>
          </a:xfrm>
          <a:prstGeom prst="ellipse">
            <a:avLst/>
          </a:prstGeom>
          <a:solidFill>
            <a:srgbClr val="6E827E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6711696" y="49194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 100ml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8887968" y="49194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sale in 62 days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419088" y="5285232"/>
            <a:ext cx="4846320" cy="0"/>
          </a:xfrm>
          <a:prstGeom prst="line">
            <a:avLst/>
          </a:prstGeom>
          <a:noFill/>
          <a:ln w="12700">
            <a:solidFill>
              <a:srgbClr val="E4EDEB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66928" y="629107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layout. The same screen works for one shop, a region, or the whole business — the location selector is the only thing that changes.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&amp; SUPPLY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numbers that answer most questions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591056"/>
            <a:ext cx="533689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9019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7C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81328" y="1920240"/>
            <a:ext cx="411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Sell-through rate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2359152"/>
            <a:ext cx="411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this product leaves the shelf here, averaged over recent weeks.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962656"/>
            <a:ext cx="411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 which shop actually needs the stock.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87872" y="1591056"/>
            <a:ext cx="533689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98768" y="19019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87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02272" y="1920240"/>
            <a:ext cx="411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 of cover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202272" y="2359152"/>
            <a:ext cx="411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current rate, how many days until this product runs out.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202272" y="2962656"/>
            <a:ext cx="411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stock count into a deadline.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749040"/>
            <a:ext cx="533689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7824" y="40599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7C6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481328" y="4078224"/>
            <a:ext cx="411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Reorder point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4517136"/>
            <a:ext cx="411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level at which you must order to avoid running out before more arrives.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5120640"/>
            <a:ext cx="411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guesswork from replenishment.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87872" y="3749040"/>
            <a:ext cx="533689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98768" y="40599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F4A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02272" y="4078224"/>
            <a:ext cx="411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 stock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202272" y="4517136"/>
            <a:ext cx="411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that have not sold in a set number of days.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202272" y="5120640"/>
            <a:ext cx="411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F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exactly where cash is trapped.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&amp; SUPPLY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came in against what went out</a:t>
            </a:r>
            <a:endParaRPr lang="en-US" sz="3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572768"/>
          <a:ext cx="74066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339328" y="1700784"/>
            <a:ext cx="3285439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595360" y="1975104"/>
            <a:ext cx="182880" cy="182880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887968" y="1883664"/>
            <a:ext cx="26453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led demand until April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2249424"/>
            <a:ext cx="29562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was arriving faster than it sold. Cash was building up on the shelf.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339328" y="2999232"/>
            <a:ext cx="3285439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595360" y="3273552"/>
            <a:ext cx="182880" cy="182880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887968" y="3182112"/>
            <a:ext cx="26453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overtook supply in June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595360" y="3547872"/>
            <a:ext cx="29562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began outrunning deliveries. This is where stockouts start.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339328" y="4297680"/>
            <a:ext cx="3285439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595360" y="4572000"/>
            <a:ext cx="182880" cy="182880"/>
          </a:xfrm>
          <a:prstGeom prst="ellipse">
            <a:avLst/>
          </a:prstGeom>
          <a:solidFill>
            <a:srgbClr val="BF4A3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887968" y="4480560"/>
            <a:ext cx="26453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gap is the warning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595360" y="4846320"/>
            <a:ext cx="29562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1,140 against 1,010 received. Without a correction, shelves empty in weeks.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66928" y="629107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figures for one location. The same comparison runs per product, per shop, or across the whole business.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&amp; SUPPLY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Reorder points, in plain terms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works out the level at which each product must be reordered — separately for every shop, because a product that sells 40 a day in one shop may sell 4 in another.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231136"/>
            <a:ext cx="11057839" cy="1371600"/>
          </a:xfrm>
          <a:prstGeom prst="roundRect">
            <a:avLst>
              <a:gd name="adj" fmla="val 4000"/>
            </a:avLst>
          </a:prstGeom>
          <a:solidFill>
            <a:srgbClr val="0C3B3C"/>
          </a:solidFill>
          <a:ln w="12700">
            <a:solidFill>
              <a:srgbClr val="0C3B3C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41248" y="2542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40" kern="0" dirty="0">
                <a:solidFill>
                  <a:srgbClr val="8FAE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PER DAY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units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3127248" y="2231136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8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584448" y="2542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40" kern="0" dirty="0">
                <a:solidFill>
                  <a:srgbClr val="8FAE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RESTOCK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584448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days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870448" y="2231136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8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327648" y="2542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40" kern="0" dirty="0">
                <a:solidFill>
                  <a:srgbClr val="8FAE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BUFFER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327648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units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613648" y="2231136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8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9070848" y="25420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4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AT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070848" y="2834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8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 units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66928" y="3931920"/>
            <a:ext cx="3429914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41248" y="4169664"/>
            <a:ext cx="288127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Calculated, not guessed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4718304"/>
            <a:ext cx="288127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Sell-through is measured on a rolling window, so the number moves with real demand instead of last year's assumption.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80890" y="3931920"/>
            <a:ext cx="3429914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655210" y="4169664"/>
            <a:ext cx="288127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Decided centrally, applied locally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655210" y="4718304"/>
            <a:ext cx="288127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office sets the policy; each shop gets its own number. Shops hold stock — they do not decide it.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194853" y="3931920"/>
            <a:ext cx="3429914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469173" y="4169664"/>
            <a:ext cx="288127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Turns into a suggestion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469173" y="4718304"/>
            <a:ext cx="288127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stock crosses the line, the system proposes a transfer or a purchase, with the quantity already worked out.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3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487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FOUR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816352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712464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DB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watches the stock so nobody has to remember to check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424160" y="2788920"/>
            <a:ext cx="1005840" cy="1005840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424160" y="27889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watches for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429914" cy="3913632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554480"/>
            <a:ext cx="3429914" cy="713232"/>
          </a:xfrm>
          <a:prstGeom prst="roundRect">
            <a:avLst>
              <a:gd name="adj" fmla="val 7692"/>
            </a:avLst>
          </a:prstGeom>
          <a:solidFill>
            <a:srgbClr val="BF4A3A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993392"/>
            <a:ext cx="3429914" cy="274320"/>
          </a:xfrm>
          <a:prstGeom prst="rect">
            <a:avLst/>
          </a:prstGeom>
          <a:solidFill>
            <a:srgbClr val="BF4A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1554480"/>
            <a:ext cx="288127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NOW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04672" y="2450592"/>
            <a:ext cx="2954426" cy="841248"/>
          </a:xfrm>
          <a:prstGeom prst="roundRect">
            <a:avLst>
              <a:gd name="adj" fmla="val 5435"/>
            </a:avLst>
          </a:prstGeom>
          <a:solidFill>
            <a:srgbClr val="F7DFD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" y="2542032"/>
            <a:ext cx="26252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stock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69264" y="2798064"/>
            <a:ext cx="262524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a shop normally carries has hit zero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" y="3438144"/>
            <a:ext cx="2954426" cy="841248"/>
          </a:xfrm>
          <a:prstGeom prst="roundRect">
            <a:avLst>
              <a:gd name="adj" fmla="val 5435"/>
            </a:avLst>
          </a:prstGeom>
          <a:solidFill>
            <a:srgbClr val="F7DFD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9264" y="3529584"/>
            <a:ext cx="26252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Expiring within 48 hours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69264" y="3785616"/>
            <a:ext cx="262524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it, move it or write it off today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" y="4425696"/>
            <a:ext cx="2954426" cy="841248"/>
          </a:xfrm>
          <a:prstGeom prst="roundRect">
            <a:avLst>
              <a:gd name="adj" fmla="val 5435"/>
            </a:avLst>
          </a:prstGeom>
          <a:solidFill>
            <a:srgbClr val="F7DFD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9264" y="4517136"/>
            <a:ext cx="26252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overdue in transit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69264" y="4773168"/>
            <a:ext cx="262524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dispatched days ago and never received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80890" y="1554480"/>
            <a:ext cx="3429914" cy="3913632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80890" y="1554480"/>
            <a:ext cx="3429914" cy="713232"/>
          </a:xfrm>
          <a:prstGeom prst="roundRect">
            <a:avLst>
              <a:gd name="adj" fmla="val 7692"/>
            </a:avLst>
          </a:prstGeom>
          <a:solidFill>
            <a:srgbClr val="E8873A"/>
          </a:solidFill>
          <a:ln/>
        </p:spPr>
      </p:sp>
      <p:sp>
        <p:nvSpPr>
          <p:cNvPr id="19" name="Shape 17"/>
          <p:cNvSpPr/>
          <p:nvPr/>
        </p:nvSpPr>
        <p:spPr>
          <a:xfrm>
            <a:off x="4380890" y="1993392"/>
            <a:ext cx="3429914" cy="274320"/>
          </a:xfrm>
          <a:prstGeom prst="rect">
            <a:avLst/>
          </a:prstGeom>
          <a:solidFill>
            <a:srgbClr val="E8873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55210" y="1554480"/>
            <a:ext cx="288127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THIS WEEK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618634" y="2450592"/>
            <a:ext cx="2954426" cy="841248"/>
          </a:xfrm>
          <a:prstGeom prst="roundRect">
            <a:avLst>
              <a:gd name="adj" fmla="val 5435"/>
            </a:avLst>
          </a:prstGeom>
          <a:solidFill>
            <a:srgbClr val="FBE7D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83226" y="2542032"/>
            <a:ext cx="26252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reorder point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783226" y="2798064"/>
            <a:ext cx="262524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now or this will run out before stock arrives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18634" y="3438144"/>
            <a:ext cx="2954426" cy="841248"/>
          </a:xfrm>
          <a:prstGeom prst="roundRect">
            <a:avLst>
              <a:gd name="adj" fmla="val 5435"/>
            </a:avLst>
          </a:prstGeom>
          <a:solidFill>
            <a:srgbClr val="FBE7D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83226" y="3529584"/>
            <a:ext cx="26252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Expiring within 7 days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783226" y="3785616"/>
            <a:ext cx="262524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discount or transfer to a faster shop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18634" y="4425696"/>
            <a:ext cx="2954426" cy="841248"/>
          </a:xfrm>
          <a:prstGeom prst="roundRect">
            <a:avLst>
              <a:gd name="adj" fmla="val 5435"/>
            </a:avLst>
          </a:prstGeom>
          <a:solidFill>
            <a:srgbClr val="FBE7D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783226" y="4517136"/>
            <a:ext cx="26252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variance over threshold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783226" y="4773168"/>
            <a:ext cx="262524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physical count disagreed with the system by more than allowed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94853" y="1554480"/>
            <a:ext cx="3429914" cy="3913632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94853" y="1554480"/>
            <a:ext cx="3429914" cy="713232"/>
          </a:xfrm>
          <a:prstGeom prst="roundRect">
            <a:avLst>
              <a:gd name="adj" fmla="val 7692"/>
            </a:avLst>
          </a:prstGeom>
          <a:solidFill>
            <a:srgbClr val="0E7C6B"/>
          </a:solidFill>
          <a:ln/>
        </p:spPr>
      </p:sp>
      <p:sp>
        <p:nvSpPr>
          <p:cNvPr id="32" name="Shape 30"/>
          <p:cNvSpPr/>
          <p:nvPr/>
        </p:nvSpPr>
        <p:spPr>
          <a:xfrm>
            <a:off x="8194853" y="1993392"/>
            <a:ext cx="3429914" cy="27432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469173" y="1554480"/>
            <a:ext cx="288127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KNOWING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432597" y="2450592"/>
            <a:ext cx="2954426" cy="841248"/>
          </a:xfrm>
          <a:prstGeom prst="roundRect">
            <a:avLst>
              <a:gd name="adj" fmla="val 5435"/>
            </a:avLst>
          </a:prstGeom>
          <a:solidFill>
            <a:srgbClr val="D7EBE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97189" y="2542032"/>
            <a:ext cx="26252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stock building up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597189" y="2798064"/>
            <a:ext cx="262524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movement for 60 days — cash is sitting still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432597" y="3438144"/>
            <a:ext cx="2954426" cy="841248"/>
          </a:xfrm>
          <a:prstGeom prst="roundRect">
            <a:avLst>
              <a:gd name="adj" fmla="val 5435"/>
            </a:avLst>
          </a:prstGeom>
          <a:solidFill>
            <a:srgbClr val="D7EBE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597189" y="3529584"/>
            <a:ext cx="26252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Overstocked against demand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597189" y="3785616"/>
            <a:ext cx="262524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cover than this shop can sell in a reasonable time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432597" y="4425696"/>
            <a:ext cx="2954426" cy="841248"/>
          </a:xfrm>
          <a:prstGeom prst="roundRect">
            <a:avLst>
              <a:gd name="adj" fmla="val 5435"/>
            </a:avLst>
          </a:prstGeom>
          <a:solidFill>
            <a:srgbClr val="D7EBE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597189" y="4517136"/>
            <a:ext cx="26252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wastage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597189" y="4773168"/>
            <a:ext cx="262524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category losing more than its normal rate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566928" y="629107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arrive by dashboard, email or phone notification, and each one can be routed to the person who can actually act on it.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picture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2517572" cy="3931920"/>
          </a:xfrm>
          <a:prstGeom prst="roundRect">
            <a:avLst>
              <a:gd name="adj" fmla="val 21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92224"/>
            <a:ext cx="384048" cy="384048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35024" y="1792224"/>
            <a:ext cx="15117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control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359152"/>
            <a:ext cx="196893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 per shop and product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record of every change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held for orders in progress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counting with approval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Damage, loss and wastage logged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position on any past date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13684" y="1554480"/>
            <a:ext cx="2517572" cy="3931920"/>
          </a:xfrm>
          <a:prstGeom prst="roundRect">
            <a:avLst>
              <a:gd name="adj" fmla="val 21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69716" y="1792224"/>
            <a:ext cx="384048" cy="384048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81780" y="1792224"/>
            <a:ext cx="15117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Movement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688004" y="2359152"/>
            <a:ext cx="196893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Import, export and transfer tickets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notes and bills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lists in the right order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checks and query handling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and supplier returns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movement history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0440" y="1554480"/>
            <a:ext cx="2517572" cy="3931920"/>
          </a:xfrm>
          <a:prstGeom prst="roundRect">
            <a:avLst>
              <a:gd name="adj" fmla="val 21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16472" y="1792224"/>
            <a:ext cx="384048" cy="384048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028536" y="1792224"/>
            <a:ext cx="15117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534760" y="2359152"/>
            <a:ext cx="196893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and supply per location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points and suggestions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and slow-moving stock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value and ageing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and wastage reporting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by value and volatility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07195" y="1554480"/>
            <a:ext cx="2517572" cy="3931920"/>
          </a:xfrm>
          <a:prstGeom prst="roundRect">
            <a:avLst>
              <a:gd name="adj" fmla="val 21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363227" y="1792224"/>
            <a:ext cx="384048" cy="384048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875291" y="1792224"/>
            <a:ext cx="15117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381515" y="2359152"/>
            <a:ext cx="196893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interface for other apps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limited by role and shop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of every edit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upload from spreadsheets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scanning throughout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by mail, phone or screen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once this is running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336896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59536" y="182880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E8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60–80%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2551176" y="182880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FD6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2971800" y="18288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7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98%+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377440"/>
            <a:ext cx="475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0C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accuracy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706624"/>
            <a:ext cx="475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by scanner against a permanent record, instead of by memory against a spreadsheet.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87872" y="1572768"/>
            <a:ext cx="5336896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80480" y="182880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E8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8272120" y="182880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FD6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692744" y="18288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8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day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6580480" y="2377440"/>
            <a:ext cx="475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0C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spot a loss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80480" y="2706624"/>
            <a:ext cx="475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movement is recorded as it happens, so a gap shows up immediately rather than at month end.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712464"/>
            <a:ext cx="5336896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59536" y="396849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E8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Guesswork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2551176" y="3968496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FD6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2971800" y="396849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7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Calculated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859536" y="4517136"/>
            <a:ext cx="475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0C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Reordering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" y="4846320"/>
            <a:ext cx="475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points per shop per product, based on what actually sold there.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87872" y="3712464"/>
            <a:ext cx="5336896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580480" y="396849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E8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8272120" y="3968496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FD6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692744" y="396849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8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</a:t>
            </a:r>
            <a:endParaRPr lang="en-US" sz="2100" dirty="0"/>
          </a:p>
        </p:txBody>
      </p:sp>
      <p:sp>
        <p:nvSpPr>
          <p:cNvPr id="26" name="Text 24"/>
          <p:cNvSpPr txBox="1"/>
          <p:nvPr/>
        </p:nvSpPr>
        <p:spPr>
          <a:xfrm>
            <a:off x="6580480" y="4517136"/>
            <a:ext cx="475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0C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Reconciling apps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580480" y="4846320"/>
            <a:ext cx="475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source means there is nothing left to reconcile between systems.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629107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ranges are typical industry benchmarks for this class of system, not a promise — baseline your own numbers before launch so the gain can be measured honestly.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is cash sitting still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unit on a shelf is money that has been spent and not yet earned back. The point of measuring demand is not tidiness — it is releasing that cash.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212848"/>
            <a:ext cx="2517572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487168"/>
            <a:ext cx="457200" cy="457200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108960"/>
            <a:ext cx="19689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 stockouts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493008"/>
            <a:ext cx="19689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you were losing because the shelf was empty are recovered.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4242816"/>
            <a:ext cx="19689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UP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13684" y="2212848"/>
            <a:ext cx="2517572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88004" y="2487168"/>
            <a:ext cx="457200" cy="457200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88004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688004" y="3108960"/>
            <a:ext cx="19689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dead stock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688004" y="3493008"/>
            <a:ext cx="19689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trapped in goods that will not sell is identified and cleared.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688004" y="4242816"/>
            <a:ext cx="19689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RELEASED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0440" y="2212848"/>
            <a:ext cx="2517572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34760" y="2487168"/>
            <a:ext cx="457200" cy="457200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3476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534760" y="3108960"/>
            <a:ext cx="19689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 duplicate orders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534760" y="3493008"/>
            <a:ext cx="19689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In-transit tracking stops the same goods being ordered twice.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534760" y="4242816"/>
            <a:ext cx="19689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DOWN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07195" y="2212848"/>
            <a:ext cx="2517572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381515" y="2487168"/>
            <a:ext cx="457200" cy="457200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381515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381515" y="3108960"/>
            <a:ext cx="19689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wastage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381515" y="3493008"/>
            <a:ext cx="19689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visibility means goods are sold or moved before they are lost.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9381515" y="4242816"/>
            <a:ext cx="19689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PROTECTED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" y="4846320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0C3B3C"/>
          </a:solidFill>
          <a:ln w="12700">
            <a:solidFill>
              <a:srgbClr val="0C3B3C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950976" y="4846320"/>
            <a:ext cx="102897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levers pull on the same thing: how long your money stays locked up as stock before it comes back as cash.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are building it with, simply put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336896" cy="1865376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77824" y="1828800"/>
            <a:ext cx="314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proven database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800704" y="1847088"/>
            <a:ext cx="1792224" cy="329184"/>
          </a:xfrm>
          <a:prstGeom prst="roundRect">
            <a:avLst>
              <a:gd name="adj" fmla="val 50000"/>
            </a:avLst>
          </a:prstGeom>
          <a:solidFill>
            <a:srgbClr val="D7EB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800704" y="1847088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C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286000"/>
            <a:ext cx="47151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that holds the stock records. Chosen because it can enforce rules itself — it will physically refuse to let stock go negative, no matter what any app tries to do.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87872" y="1572768"/>
            <a:ext cx="5336896" cy="1865376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98768" y="1828800"/>
            <a:ext cx="314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single service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521647" y="1847088"/>
            <a:ext cx="1792224" cy="329184"/>
          </a:xfrm>
          <a:prstGeom prst="roundRect">
            <a:avLst>
              <a:gd name="adj" fmla="val 50000"/>
            </a:avLst>
          </a:prstGeom>
          <a:solidFill>
            <a:srgbClr val="D7EBE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521647" y="1847088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C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&amp; TypeScript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598768" y="2286000"/>
            <a:ext cx="47151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application rather than a scattered set of them, so a stock change and its record are always saved together — never one without the other.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639312"/>
            <a:ext cx="5336896" cy="1865376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77824" y="3895344"/>
            <a:ext cx="314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shared interface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800704" y="3913632"/>
            <a:ext cx="1792224" cy="329184"/>
          </a:xfrm>
          <a:prstGeom prst="roundRect">
            <a:avLst>
              <a:gd name="adj" fmla="val 50000"/>
            </a:avLst>
          </a:prstGeom>
          <a:solidFill>
            <a:srgbClr val="D7EBE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800704" y="3913632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C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web API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77824" y="4352544"/>
            <a:ext cx="47151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doorway other apps use. Any app that can browse the internet can connect to it — your buy and sell app, a partner's system, or something you build in three years.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87872" y="3639312"/>
            <a:ext cx="5336896" cy="1865376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598768" y="3895344"/>
            <a:ext cx="314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web dashboard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521647" y="3913632"/>
            <a:ext cx="1792224" cy="329184"/>
          </a:xfrm>
          <a:prstGeom prst="roundRect">
            <a:avLst>
              <a:gd name="adj" fmla="val 50000"/>
            </a:avLst>
          </a:prstGeom>
          <a:solidFill>
            <a:srgbClr val="D7EBE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521647" y="3913632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C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any browser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598768" y="4352544"/>
            <a:ext cx="47151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 laptop or a phone with no installation. Shop staff scan barcodes with the phone camera.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5705856"/>
            <a:ext cx="11057839" cy="749808"/>
          </a:xfrm>
          <a:prstGeom prst="roundRect">
            <a:avLst>
              <a:gd name="adj" fmla="val 7317"/>
            </a:avLst>
          </a:prstGeom>
          <a:solidFill>
            <a:srgbClr val="FBE7D4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6112" y="5705856"/>
            <a:ext cx="1039947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it is standard, widely used technology with a large pool of developers — nothing exotic that only one person can maintain.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get there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2048256"/>
            <a:ext cx="1206208" cy="2395728"/>
          </a:xfrm>
          <a:prstGeom prst="roundRect">
            <a:avLst>
              <a:gd name="adj" fmla="val 45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2048256"/>
            <a:ext cx="1206208" cy="457200"/>
          </a:xfrm>
          <a:prstGeom prst="roundRect">
            <a:avLst>
              <a:gd name="adj" fmla="val 12000"/>
            </a:avLst>
          </a:prstGeom>
          <a:solidFill>
            <a:srgbClr val="0E7C6B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2304288"/>
            <a:ext cx="1206208" cy="201168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2048256"/>
            <a:ext cx="1206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94944" y="2615184"/>
            <a:ext cx="950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3273552"/>
            <a:ext cx="9867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control, audit trail, product IDs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74304" y="2048256"/>
            <a:ext cx="1206208" cy="2395728"/>
          </a:xfrm>
          <a:prstGeom prst="roundRect">
            <a:avLst>
              <a:gd name="adj" fmla="val 45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74304" y="2048256"/>
            <a:ext cx="1206208" cy="457200"/>
          </a:xfrm>
          <a:prstGeom prst="roundRect">
            <a:avLst>
              <a:gd name="adj" fmla="val 12000"/>
            </a:avLst>
          </a:prstGeom>
          <a:solidFill>
            <a:srgbClr val="0E7C6B"/>
          </a:solidFill>
          <a:ln/>
        </p:spPr>
      </p:sp>
      <p:sp>
        <p:nvSpPr>
          <p:cNvPr id="12" name="Shape 10"/>
          <p:cNvSpPr/>
          <p:nvPr/>
        </p:nvSpPr>
        <p:spPr>
          <a:xfrm>
            <a:off x="1974304" y="2304288"/>
            <a:ext cx="1206208" cy="201168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974304" y="2048256"/>
            <a:ext cx="1206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2102320" y="2615184"/>
            <a:ext cx="950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Catalogue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2084032" y="3273552"/>
            <a:ext cx="9867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shops, suppliers, bulk upload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1680" y="2048256"/>
            <a:ext cx="1206208" cy="2395728"/>
          </a:xfrm>
          <a:prstGeom prst="roundRect">
            <a:avLst>
              <a:gd name="adj" fmla="val 45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81680" y="2048256"/>
            <a:ext cx="1206208" cy="457200"/>
          </a:xfrm>
          <a:prstGeom prst="roundRect">
            <a:avLst>
              <a:gd name="adj" fmla="val 12000"/>
            </a:avLst>
          </a:prstGeom>
          <a:solidFill>
            <a:srgbClr val="E8873A"/>
          </a:solidFill>
          <a:ln/>
        </p:spPr>
      </p:sp>
      <p:sp>
        <p:nvSpPr>
          <p:cNvPr id="18" name="Shape 16"/>
          <p:cNvSpPr/>
          <p:nvPr/>
        </p:nvSpPr>
        <p:spPr>
          <a:xfrm>
            <a:off x="3381680" y="2304288"/>
            <a:ext cx="1206208" cy="201168"/>
          </a:xfrm>
          <a:prstGeom prst="rect">
            <a:avLst/>
          </a:prstGeom>
          <a:solidFill>
            <a:srgbClr val="E8873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381680" y="2048256"/>
            <a:ext cx="1206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3509696" y="2615184"/>
            <a:ext cx="950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truth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3491408" y="3273552"/>
            <a:ext cx="9867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book, live counts, physical counting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89056" y="2048256"/>
            <a:ext cx="1206208" cy="2395728"/>
          </a:xfrm>
          <a:prstGeom prst="roundRect">
            <a:avLst>
              <a:gd name="adj" fmla="val 45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89056" y="2048256"/>
            <a:ext cx="1206208" cy="457200"/>
          </a:xfrm>
          <a:prstGeom prst="roundRect">
            <a:avLst>
              <a:gd name="adj" fmla="val 12000"/>
            </a:avLst>
          </a:prstGeom>
          <a:solidFill>
            <a:srgbClr val="E8873A"/>
          </a:solidFill>
          <a:ln/>
        </p:spPr>
      </p:sp>
      <p:sp>
        <p:nvSpPr>
          <p:cNvPr id="24" name="Shape 22"/>
          <p:cNvSpPr/>
          <p:nvPr/>
        </p:nvSpPr>
        <p:spPr>
          <a:xfrm>
            <a:off x="4789056" y="2304288"/>
            <a:ext cx="1206208" cy="201168"/>
          </a:xfrm>
          <a:prstGeom prst="rect">
            <a:avLst/>
          </a:prstGeom>
          <a:solidFill>
            <a:srgbClr val="E887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89056" y="2048256"/>
            <a:ext cx="1206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4917072" y="2615184"/>
            <a:ext cx="950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Movement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4898784" y="3273552"/>
            <a:ext cx="9867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Import, export, transfer, tickets, documents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96432" y="2048256"/>
            <a:ext cx="1206208" cy="2395728"/>
          </a:xfrm>
          <a:prstGeom prst="roundRect">
            <a:avLst>
              <a:gd name="adj" fmla="val 45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96432" y="2048256"/>
            <a:ext cx="1206208" cy="457200"/>
          </a:xfrm>
          <a:prstGeom prst="roundRect">
            <a:avLst>
              <a:gd name="adj" fmla="val 12000"/>
            </a:avLst>
          </a:prstGeom>
          <a:solidFill>
            <a:srgbClr val="E8873A"/>
          </a:solidFill>
          <a:ln/>
        </p:spPr>
      </p:sp>
      <p:sp>
        <p:nvSpPr>
          <p:cNvPr id="30" name="Shape 28"/>
          <p:cNvSpPr/>
          <p:nvPr/>
        </p:nvSpPr>
        <p:spPr>
          <a:xfrm>
            <a:off x="6196432" y="2304288"/>
            <a:ext cx="1206208" cy="201168"/>
          </a:xfrm>
          <a:prstGeom prst="rect">
            <a:avLst/>
          </a:prstGeom>
          <a:solidFill>
            <a:srgbClr val="E8873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196432" y="2048256"/>
            <a:ext cx="1206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324448" y="2615184"/>
            <a:ext cx="950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interface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6306160" y="3273552"/>
            <a:ext cx="9867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your other apps connect to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603808" y="2048256"/>
            <a:ext cx="1206208" cy="2395728"/>
          </a:xfrm>
          <a:prstGeom prst="roundRect">
            <a:avLst>
              <a:gd name="adj" fmla="val 45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603808" y="2048256"/>
            <a:ext cx="1206208" cy="457200"/>
          </a:xfrm>
          <a:prstGeom prst="roundRect">
            <a:avLst>
              <a:gd name="adj" fmla="val 12000"/>
            </a:avLst>
          </a:prstGeom>
          <a:solidFill>
            <a:srgbClr val="0E7C6B"/>
          </a:solidFill>
          <a:ln/>
        </p:spPr>
      </p:sp>
      <p:sp>
        <p:nvSpPr>
          <p:cNvPr id="36" name="Shape 34"/>
          <p:cNvSpPr/>
          <p:nvPr/>
        </p:nvSpPr>
        <p:spPr>
          <a:xfrm>
            <a:off x="7603808" y="2304288"/>
            <a:ext cx="1206208" cy="201168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603808" y="2048256"/>
            <a:ext cx="1206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7731824" y="2615184"/>
            <a:ext cx="950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7713536" y="3273552"/>
            <a:ext cx="9867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for managers and shop staff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011183" y="2048256"/>
            <a:ext cx="1206208" cy="2395728"/>
          </a:xfrm>
          <a:prstGeom prst="roundRect">
            <a:avLst>
              <a:gd name="adj" fmla="val 45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011183" y="2048256"/>
            <a:ext cx="1206208" cy="457200"/>
          </a:xfrm>
          <a:prstGeom prst="roundRect">
            <a:avLst>
              <a:gd name="adj" fmla="val 12000"/>
            </a:avLst>
          </a:prstGeom>
          <a:solidFill>
            <a:srgbClr val="0E7C6B"/>
          </a:solidFill>
          <a:ln/>
        </p:spPr>
      </p:sp>
      <p:sp>
        <p:nvSpPr>
          <p:cNvPr id="42" name="Shape 40"/>
          <p:cNvSpPr/>
          <p:nvPr/>
        </p:nvSpPr>
        <p:spPr>
          <a:xfrm>
            <a:off x="9011183" y="2304288"/>
            <a:ext cx="1206208" cy="201168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011183" y="2048256"/>
            <a:ext cx="1206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9139199" y="2615184"/>
            <a:ext cx="950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&amp; alerts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9120911" y="3273552"/>
            <a:ext cx="9867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Demand, supply, reorder points, notifications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0418559" y="2048256"/>
            <a:ext cx="1206208" cy="2395728"/>
          </a:xfrm>
          <a:prstGeom prst="roundRect">
            <a:avLst>
              <a:gd name="adj" fmla="val 45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0418559" y="2048256"/>
            <a:ext cx="1206208" cy="457200"/>
          </a:xfrm>
          <a:prstGeom prst="roundRect">
            <a:avLst>
              <a:gd name="adj" fmla="val 12000"/>
            </a:avLst>
          </a:prstGeom>
          <a:solidFill>
            <a:srgbClr val="0E7C6B"/>
          </a:solidFill>
          <a:ln/>
        </p:spPr>
      </p:sp>
      <p:sp>
        <p:nvSpPr>
          <p:cNvPr id="48" name="Shape 46"/>
          <p:cNvSpPr/>
          <p:nvPr/>
        </p:nvSpPr>
        <p:spPr>
          <a:xfrm>
            <a:off x="10418559" y="2304288"/>
            <a:ext cx="1206208" cy="201168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10418559" y="2048256"/>
            <a:ext cx="1206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10546575" y="2615184"/>
            <a:ext cx="950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C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&amp; value</a:t>
            </a:r>
            <a:endParaRPr lang="en-US" sz="1350" dirty="0"/>
          </a:p>
        </p:txBody>
      </p:sp>
      <p:sp>
        <p:nvSpPr>
          <p:cNvPr id="51" name="Text 49"/>
          <p:cNvSpPr txBox="1"/>
          <p:nvPr/>
        </p:nvSpPr>
        <p:spPr>
          <a:xfrm>
            <a:off x="10528287" y="3273552"/>
            <a:ext cx="9867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Landed cost, stock valuation, margin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66928" y="4736592"/>
            <a:ext cx="11057839" cy="969264"/>
          </a:xfrm>
          <a:prstGeom prst="roundRect">
            <a:avLst>
              <a:gd name="adj" fmla="val 5660"/>
            </a:avLst>
          </a:prstGeom>
          <a:solidFill>
            <a:srgbClr val="0C3B3C"/>
          </a:solidFill>
          <a:ln w="12700">
            <a:solidFill>
              <a:srgbClr val="0C3B3C"/>
            </a:solidFill>
            <a:prstDash val="solid"/>
          </a:ln>
          <a:effectLst>
            <a:outerShdw sx="100000" sy="100000" kx="0" ky="0" algn="bl" rotWithShape="0" blurRad="127000" dist="25400" dir="5400000">
              <a:srgbClr val="0C3B3C">
                <a:alpha val="10000"/>
              </a:srgbClr>
            </a:outerShdw>
          </a:effectLst>
        </p:spPr>
      </p:sp>
      <p:sp>
        <p:nvSpPr>
          <p:cNvPr id="53" name="Text 51"/>
          <p:cNvSpPr txBox="1"/>
          <p:nvPr/>
        </p:nvSpPr>
        <p:spPr>
          <a:xfrm>
            <a:off x="950976" y="4901184"/>
            <a:ext cx="10289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phase ends at a test it has to pass before the next one starts.</a:t>
            </a:r>
            <a:endParaRPr lang="en-US" sz="1550" dirty="0"/>
          </a:p>
        </p:txBody>
      </p:sp>
      <p:sp>
        <p:nvSpPr>
          <p:cNvPr id="54" name="Text 52"/>
          <p:cNvSpPr txBox="1"/>
          <p:nvPr/>
        </p:nvSpPr>
        <p:spPr>
          <a:xfrm>
            <a:off x="950976" y="5212080"/>
            <a:ext cx="102897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D2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example: a transfer of 100 units where 97 arrive and 2 are damaged cannot be closed until all 100 are accounted for. If the test fails, the next phase does not begin — in a stock system, a weak foundation compounds instead of surfacing.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62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719072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record of stock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every app can trust.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85216" y="3575304"/>
            <a:ext cx="146304" cy="146304"/>
          </a:xfrm>
          <a:prstGeom prst="ellipse">
            <a:avLst/>
          </a:prstGeom>
          <a:solidFill>
            <a:srgbClr val="2AA3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3456432"/>
            <a:ext cx="6949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carries one identity and a full history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85216" y="4032504"/>
            <a:ext cx="146304" cy="146304"/>
          </a:xfrm>
          <a:prstGeom prst="ellipse">
            <a:avLst/>
          </a:prstGeom>
          <a:solidFill>
            <a:srgbClr val="2AA39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913632"/>
            <a:ext cx="6949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moves without a ticket that has to be closed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85216" y="4489704"/>
            <a:ext cx="146304" cy="146304"/>
          </a:xfrm>
          <a:prstGeom prst="ellipse">
            <a:avLst/>
          </a:prstGeom>
          <a:solidFill>
            <a:srgbClr val="2AA39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4370832"/>
            <a:ext cx="6949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ticket cannot close until every unit is accounted for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85216" y="4946904"/>
            <a:ext cx="146304" cy="146304"/>
          </a:xfrm>
          <a:prstGeom prst="ellipse">
            <a:avLst/>
          </a:prstGeom>
          <a:solidFill>
            <a:srgbClr val="2AA39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828032"/>
            <a:ext cx="6949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Demand, supply and alerts worked out for each shop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85216" y="5404104"/>
            <a:ext cx="146304" cy="146304"/>
          </a:xfrm>
          <a:prstGeom prst="ellipse">
            <a:avLst/>
          </a:prstGeom>
          <a:solidFill>
            <a:srgbClr val="2AA39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5285232"/>
            <a:ext cx="6949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interface, ready for the apps you build next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503920" y="1371600"/>
            <a:ext cx="3127248" cy="4389120"/>
          </a:xfrm>
          <a:prstGeom prst="roundRect">
            <a:avLst>
              <a:gd name="adj" fmla="val 2339"/>
            </a:avLst>
          </a:prstGeom>
          <a:solidFill>
            <a:srgbClr val="0E3536"/>
          </a:solidFill>
          <a:ln w="12700">
            <a:solidFill>
              <a:srgbClr val="1B4E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96528" y="17007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DECIDE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796528" y="2121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A3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098280" y="2103120"/>
            <a:ext cx="2286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9D2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your buy and sell app keep its own orders, or hand them to this system?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796528" y="3163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A3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098280" y="3145536"/>
            <a:ext cx="2286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9D2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stock anything that expires?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796528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A3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098280" y="3877056"/>
            <a:ext cx="2286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9D2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tracked by serial number?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796528" y="4626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A3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098280" y="4608576"/>
            <a:ext cx="2286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9D2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business, or several sharing this?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Inventory Core</dc:title>
  <dc:subject>PptxGenJS Presentation</dc:subject>
  <dc:creator>Inventory Core</dc:creator>
  <cp:lastModifiedBy>Inventory Core</cp:lastModifiedBy>
  <cp:revision>1</cp:revision>
  <dcterms:created xsi:type="dcterms:W3CDTF">2026-08-27T11:54:31Z</dcterms:created>
  <dcterms:modified xsi:type="dcterms:W3CDTF">2026-08-27T11:54:31Z</dcterms:modified>
</cp:coreProperties>
</file>